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B22"/>
                </a:solidFill>
                <a:latin typeface="Calibri"/>
              </a:defRPr>
            </a:pPr>
            <a:r>
              <a:rPr lang="en-US" sz="1300" b="0" i="0" u="none" strike="noStrike">
                <a:solidFill>
                  <a:srgbClr val="1B2B22"/>
                </a:solidFill>
                <a:latin typeface="Calibri"/>
              </a:rPr>
              <a:t>Top Downtime Factors (Frequency)</a:t>
            </a:r>
          </a:p>
        </c:rich>
      </c:tx>
      <c:overlay val="0"/>
    </c:title>
    <c:autoTitleDeleted val="0"/>
    <c:plotArea>
      <c:layout/>
      <c:barChart>
        <c:barDir val="bar"/>
        <c:grouping val="clustered"/>
        <c:varyColors val="0"/>
        <c:ser>
          <c:idx val="0"/>
          <c:order val="0"/>
          <c:tx>
            <c:strRef>
              <c:f>Sheet1!$B$1</c:f>
              <c:strCache>
                <c:ptCount val="1"/>
                <c:pt idx="0">
                  <c:v>Frequency</c:v>
                </c:pt>
              </c:strCache>
            </c:strRef>
          </c:tx>
          <c:spPr>
            <a:solidFill>
              <a:srgbClr val="2D6A4F"/>
            </a:solidFill>
            <a:effectLst/>
          </c:spPr>
          <c:invertIfNegative val="0"/>
          <c:dLbls>
            <c:numFmt formatCode="#,##0" sourceLinked="0"/>
            <c:spPr>
              <a:noFill/>
              <a:ln>
                <a:noFill/>
              </a:ln>
              <a:effectLst/>
            </c:spPr>
            <c:txPr>
              <a:bodyPr/>
              <a:lstStyle/>
              <a:p>
                <a:pPr>
                  <a:defRPr sz="900" b="0" i="0" u="none" strike="noStrike">
                    <a:solidFill>
                      <a:srgbClr val="1B2B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Cleaning/Sanitation</c:v>
                </c:pt>
                <c:pt idx="1">
                  <c:v>Raw Material Shortage</c:v>
                </c:pt>
                <c:pt idx="2">
                  <c:v>Scheduling/Coord.</c:v>
                </c:pt>
                <c:pt idx="3">
                  <c:v>Machine Breakdown</c:v>
                </c:pt>
                <c:pt idx="4">
                  <c:v>Safety Lockout</c:v>
                </c:pt>
                <c:pt idx="5">
                  <c:v>Operator Mistake</c:v>
                </c:pt>
              </c:strCache>
            </c:strRef>
          </c:cat>
          <c:val>
            <c:numRef>
              <c:f>Sheet1!$B$2:$B$7</c:f>
              <c:numCache>
                <c:formatCode>General</c:formatCode>
                <c:ptCount val="6"/>
                <c:pt idx="0">
                  <c:v>86</c:v>
                </c:pt>
                <c:pt idx="1">
                  <c:v>77</c:v>
                </c:pt>
                <c:pt idx="2">
                  <c:v>76</c:v>
                </c:pt>
                <c:pt idx="3">
                  <c:v>75</c:v>
                </c:pt>
                <c:pt idx="4">
                  <c:v>71</c:v>
                </c:pt>
                <c:pt idx="5">
                  <c:v>67</c:v>
                </c:pt>
              </c:numCache>
            </c:numRef>
          </c:val>
          <c:extLst>
            <c:ext xmlns:c16="http://schemas.microsoft.com/office/drawing/2014/chart" uri="{C3380CC4-5D6E-409C-BE32-E72D297353CC}">
              <c16:uniqueId val="{00000000-79A8-45CD-9254-19F41740E21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B2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Root Cause</c:v>
                </c:pt>
              </c:strCache>
            </c:strRef>
          </c:tx>
          <c:spPr>
            <a:solidFill>
              <a:schemeClr val="accent1"/>
            </a:solidFill>
            <a:ln w="9525" cap="flat">
              <a:solidFill>
                <a:srgbClr val="F9F9F9"/>
              </a:solidFill>
              <a:prstDash val="solid"/>
              <a:round/>
            </a:ln>
            <a:effectLst/>
          </c:spPr>
          <c:dPt>
            <c:idx val="0"/>
            <c:bubble3D val="0"/>
            <c:spPr>
              <a:solidFill>
                <a:srgbClr val="2D6A4F"/>
              </a:solidFill>
              <a:effectLst/>
            </c:spPr>
            <c:extLst>
              <c:ext xmlns:c16="http://schemas.microsoft.com/office/drawing/2014/chart" uri="{C3380CC4-5D6E-409C-BE32-E72D297353CC}">
                <c16:uniqueId val="{00000001-F796-41BA-9B24-8609A19A1C67}"/>
              </c:ext>
            </c:extLst>
          </c:dPt>
          <c:dPt>
            <c:idx val="1"/>
            <c:bubble3D val="0"/>
            <c:spPr>
              <a:solidFill>
                <a:srgbClr val="95D5B2"/>
              </a:solidFill>
              <a:effectLst/>
            </c:spPr>
            <c:extLst>
              <c:ext xmlns:c16="http://schemas.microsoft.com/office/drawing/2014/chart" uri="{C3380CC4-5D6E-409C-BE32-E72D297353CC}">
                <c16:uniqueId val="{00000003-F796-41BA-9B24-8609A19A1C67}"/>
              </c:ext>
            </c:extLst>
          </c:dPt>
          <c:cat>
            <c:strRef>
              <c:f>Sheet1!$A$2:$A$3</c:f>
              <c:strCache>
                <c:ptCount val="2"/>
                <c:pt idx="0">
                  <c:v>Non-Operator</c:v>
                </c:pt>
                <c:pt idx="1">
                  <c:v>Operator</c:v>
                </c:pt>
              </c:strCache>
            </c:strRef>
          </c:cat>
          <c:val>
            <c:numRef>
              <c:f>Sheet1!$B$2:$B$3</c:f>
              <c:numCache>
                <c:formatCode>General</c:formatCode>
                <c:ptCount val="2"/>
                <c:pt idx="0">
                  <c:v>69</c:v>
                </c:pt>
                <c:pt idx="1">
                  <c:v>31</c:v>
                </c:pt>
              </c:numCache>
            </c:numRef>
          </c:val>
          <c:extLst>
            <c:ext xmlns:c16="http://schemas.microsoft.com/office/drawing/2014/chart" uri="{C3380CC4-5D6E-409C-BE32-E72D297353CC}">
              <c16:uniqueId val="{00000004-F796-41BA-9B24-8609A19A1C67}"/>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B22"/>
                </a:solidFill>
                <a:latin typeface="Calibri"/>
              </a:defRPr>
            </a:pPr>
            <a:r>
              <a:rPr lang="en-US" sz="1300" b="0" i="0" u="none" strike="noStrike">
                <a:solidFill>
                  <a:srgbClr val="1B2B22"/>
                </a:solidFill>
                <a:latin typeface="Calibri"/>
              </a:rPr>
              <a:t>Trend of Downtime Factor Frequency (Mar–Aug 2025)</a:t>
            </a:r>
          </a:p>
        </c:rich>
      </c:tx>
      <c:overlay val="0"/>
    </c:title>
    <c:autoTitleDeleted val="0"/>
    <c:plotArea>
      <c:layout/>
      <c:lineChart>
        <c:grouping val="standard"/>
        <c:varyColors val="0"/>
        <c:ser>
          <c:idx val="0"/>
          <c:order val="0"/>
          <c:tx>
            <c:strRef>
              <c:f>Sheet1!$B$1</c:f>
              <c:strCache>
                <c:ptCount val="1"/>
                <c:pt idx="0">
                  <c:v>Downtime Duration Trend</c:v>
                </c:pt>
              </c:strCache>
            </c:strRef>
          </c:tx>
          <c:spPr>
            <a:ln w="38100" cap="flat">
              <a:solidFill>
                <a:srgbClr val="2D6A4F"/>
              </a:solidFill>
              <a:prstDash val="solid"/>
              <a:round/>
            </a:ln>
            <a:effectLst/>
          </c:spPr>
          <c:marker>
            <c:symbol val="circle"/>
            <c:size val="7"/>
            <c:spPr>
              <a:solidFill>
                <a:srgbClr val="2D6A4F"/>
              </a:solidFill>
              <a:ln w="9525" cap="flat">
                <a:solidFill>
                  <a:srgbClr val="2D6A4F"/>
                </a:solidFill>
                <a:prstDash val="solid"/>
                <a:round/>
              </a:ln>
              <a:effectLst/>
            </c:spPr>
          </c:marker>
          <c:dLbls>
            <c:numFmt formatCode="#,##0" sourceLinked="0"/>
            <c:spPr>
              <a:noFill/>
              <a:ln>
                <a:noFill/>
              </a:ln>
              <a:effectLst/>
            </c:spPr>
            <c:txPr>
              <a:bodyPr/>
              <a:lstStyle/>
              <a:p>
                <a:pPr>
                  <a:defRPr sz="900" b="0" i="0" u="none" strike="noStrike">
                    <a:solidFill>
                      <a:srgbClr val="1B2B22"/>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Mar</c:v>
                </c:pt>
                <c:pt idx="1">
                  <c:v>Apr</c:v>
                </c:pt>
                <c:pt idx="2">
                  <c:v>May</c:v>
                </c:pt>
                <c:pt idx="3">
                  <c:v>Jun</c:v>
                </c:pt>
                <c:pt idx="4">
                  <c:v>Jul</c:v>
                </c:pt>
                <c:pt idx="5">
                  <c:v>Aug</c:v>
                </c:pt>
              </c:strCache>
            </c:strRef>
          </c:cat>
          <c:val>
            <c:numRef>
              <c:f>Sheet1!$B$2:$B$7</c:f>
              <c:numCache>
                <c:formatCode>General</c:formatCode>
                <c:ptCount val="6"/>
                <c:pt idx="0">
                  <c:v>123</c:v>
                </c:pt>
                <c:pt idx="1">
                  <c:v>157</c:v>
                </c:pt>
                <c:pt idx="2">
                  <c:v>153</c:v>
                </c:pt>
                <c:pt idx="3">
                  <c:v>148</c:v>
                </c:pt>
                <c:pt idx="4">
                  <c:v>143</c:v>
                </c:pt>
                <c:pt idx="5">
                  <c:v>150</c:v>
                </c:pt>
              </c:numCache>
            </c:numRef>
          </c:val>
          <c:smooth val="0"/>
          <c:extLst>
            <c:ext xmlns:c16="http://schemas.microsoft.com/office/drawing/2014/chart" uri="{C3380CC4-5D6E-409C-BE32-E72D297353CC}">
              <c16:uniqueId val="{00000000-3D76-48D9-8195-11737D2C3C1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B2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B22"/>
                </a:solidFill>
                <a:latin typeface="Calibri"/>
              </a:defRPr>
            </a:pPr>
            <a:r>
              <a:rPr lang="en-US" sz="1300" b="0" i="0" u="none" strike="noStrike">
                <a:solidFill>
                  <a:srgbClr val="1B2B22"/>
                </a:solidFill>
                <a:latin typeface="Calibri"/>
              </a:rPr>
              <a:t>Operator Downtime Frequency</a:t>
            </a:r>
          </a:p>
        </c:rich>
      </c:tx>
      <c:overlay val="0"/>
    </c:title>
    <c:autoTitleDeleted val="0"/>
    <c:plotArea>
      <c:layout/>
      <c:barChart>
        <c:barDir val="bar"/>
        <c:grouping val="clustered"/>
        <c:varyColors val="0"/>
        <c:ser>
          <c:idx val="0"/>
          <c:order val="0"/>
          <c:tx>
            <c:strRef>
              <c:f>Sheet1!$B$1</c:f>
              <c:strCache>
                <c:ptCount val="1"/>
                <c:pt idx="0">
                  <c:v>Downtime Frequency</c:v>
                </c:pt>
              </c:strCache>
            </c:strRef>
          </c:tx>
          <c:spPr>
            <a:solidFill>
              <a:srgbClr val="2D6A4F"/>
            </a:solidFill>
            <a:effectLst/>
          </c:spPr>
          <c:invertIfNegative val="0"/>
          <c:dLbls>
            <c:numFmt formatCode="#,##0" sourceLinked="0"/>
            <c:spPr>
              <a:noFill/>
              <a:ln>
                <a:noFill/>
              </a:ln>
              <a:effectLst/>
            </c:spPr>
            <c:txPr>
              <a:bodyPr/>
              <a:lstStyle/>
              <a:p>
                <a:pPr>
                  <a:defRPr sz="900" b="0" i="0" u="none" strike="noStrike">
                    <a:solidFill>
                      <a:srgbClr val="1B2B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Paul</c:v>
                </c:pt>
                <c:pt idx="1">
                  <c:v>James</c:v>
                </c:pt>
                <c:pt idx="2">
                  <c:v>Emily</c:v>
                </c:pt>
                <c:pt idx="3">
                  <c:v>Mike</c:v>
                </c:pt>
                <c:pt idx="4">
                  <c:v>Rita</c:v>
                </c:pt>
                <c:pt idx="5">
                  <c:v>Alex</c:v>
                </c:pt>
                <c:pt idx="6">
                  <c:v>Sophia</c:v>
                </c:pt>
                <c:pt idx="7">
                  <c:v>Linda</c:v>
                </c:pt>
                <c:pt idx="8">
                  <c:v>John</c:v>
                </c:pt>
                <c:pt idx="9">
                  <c:v>Sarah</c:v>
                </c:pt>
              </c:strCache>
            </c:strRef>
          </c:cat>
          <c:val>
            <c:numRef>
              <c:f>Sheet1!$B$2:$B$11</c:f>
              <c:numCache>
                <c:formatCode>General</c:formatCode>
                <c:ptCount val="10"/>
                <c:pt idx="0">
                  <c:v>164</c:v>
                </c:pt>
                <c:pt idx="1">
                  <c:v>144</c:v>
                </c:pt>
                <c:pt idx="2">
                  <c:v>112</c:v>
                </c:pt>
                <c:pt idx="3">
                  <c:v>107</c:v>
                </c:pt>
                <c:pt idx="4">
                  <c:v>73</c:v>
                </c:pt>
                <c:pt idx="5">
                  <c:v>66</c:v>
                </c:pt>
                <c:pt idx="6">
                  <c:v>66</c:v>
                </c:pt>
                <c:pt idx="7">
                  <c:v>63</c:v>
                </c:pt>
                <c:pt idx="8">
                  <c:v>46</c:v>
                </c:pt>
                <c:pt idx="9">
                  <c:v>44</c:v>
                </c:pt>
              </c:numCache>
            </c:numRef>
          </c:val>
          <c:extLst>
            <c:ext xmlns:c16="http://schemas.microsoft.com/office/drawing/2014/chart" uri="{C3380CC4-5D6E-409C-BE32-E72D297353CC}">
              <c16:uniqueId val="{00000000-7A6E-483D-9085-7E5E434B157E}"/>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2B2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612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and thank you for making time for this briefing. My name is Sarah Abhulimhen, and I'm the Data Analyst Intern who led this project. Today I'll walk you through an analysis of production downtime here at GreenTech, built using PostgreSQL and Power BI, aimed at identifying operational inefficiencies and giving you data-driven recommendations you can act on. Over the next 10 to 15 minutes I'll cover the business context, our methodology, the key findings from the data, and a set of practical recommendations for improving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I've structured today's briefing. We'll start with some quick context on GreenTech and the business challenges that motivated this project. Then I'll walk through the methodology and data architecture behind the analysis. From there, we'll spend most of our time on the key findings — downtime factors, duration trends, and operator scheduling. I'll close with the business impact, my recommendations, and a few reflections from the project before opening the floor to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deep into the data, here's the headline picture. Of 645 production batches analyzed, 363 — just over half — experienced delays, and together those delays cost GreenTech roughly 21.74 production days. Importantly, 69% of that downtime was not caused by operator error; it's rooted in process and system issues like cleaning cycles, scheduling, and material shortages. That's actually encouraging, because process issues are more predictable and fixable than people issues. My top recommendation is a combination of preventive maintenance, real-time inventory monitoring, and smarter operator scheduling — three levers that directly target the biggest drivers of lost time. I'll unpack all of this in detail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GreenTech itself. GreenTech is a sustainable manufacturing company producing environmentally friendly household products — things like eco-cleaning supplies and recyclable packaging. Because these are physical production lines, GreenTech's profitability and customer satisfaction depend heavily on efficient scheduling and minimal downtime. The company is also trying to balance its sustainability mission with operational excellence, which is exactly why understanding and reducing downtime matters — it's not just a technical exercise, it's core to the business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prompted this project? GreenTech was experiencing significant operational disruption — over half of all production batches were delayed. Digging deeper, we saw recurring issues: machine breakdowns, cleaning and sanitation requirements, raw material shortages, and scheduling conflicts, all repeatedly cutting into production efficiency. But perhaps the biggest challenge was structural: management didn't have a centralized view of downtime patterns. Without that visibility, it was very difficult to know where to intervene, or whether a fix in one area was actually moving the needle.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context, the project had one primary objective: identify the root causes of production delays and evaluate their impact on productivity. Everything downstream — the dashboards, the analysis, the recommendations — supports that goal. Alongside that, we pursued three secondary objectives: assessing operator performance and workload distribution, identifying trends over time, and ultimately recommending concrete strategies to improve efficiency and reduce costs.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technical side, the approach was straightforward but rigorous. Production and downtime data lived in PostgreSQL, which we queried directly to build a reliable, single source of truth. From there, the data was imported into Power BI, where we built a clean data model — relating batches, operators, products, and downtime factors to one another. On top of that model, we wrote custom DAX measures to calculate the KPIs you'll see throughout this deck: delayed-batch rates, downtime duration, and frequency by factor. Finally, we packaged all of this into interactive Power BI dashboards so stakeholders can explore the data themselves, not just read a static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end-to-end workflow — from raw data to recommendations. We start by extracting production and downtime records from PostgreSQL, then clean and transform that data. Next, we build a data model connecting batches, operators, and products, and layer DAX measures on top to calculate our core KPIs. That model feeds the interactive Power BI dashboards you'll see shortly, and ultimately, all of it distills down into the insights and recommendations I'll share today. Each stage builds on the one before it, so the recommendations at the end are traceable all the way back to the raw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dashboards were developed to give a holistic view of operations. The Downtime Factor Overview highlights the major drivers of downtime by category and product. The Duration Analysis dashboard focuses specifically on production delays and how downtime duration trends over time. And the Operator Scheduling dashboard evaluates workload distribution and scheduling effectiveness across the team. All three are fully interactive and filterable by product and date range, which is what stakeholders will use going forward to self-serve their own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this in the numbers. Across the reporting period, GreenTech produced 645 batches, of which 363 experienced delays — that's the 56% figure I mentioned earlier. Those delays translated into 21.74 lost production days. In total, we recorded 885 downtime incidents across 13 distinct downtime categories, with a maximum of four separate downtime events affecting any single batch. These six figures are the backbone of everything else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Diving into root causes: cleaning and sanitation activities were the single most frequent downtime factor, closely followed by raw material shortages, scheduling and coordination delays, and machine breakdowns. Looking at products specifically, GreenFoam Hand Soap experienced the highest level of disruption, which points to process inefficiencies within that particular line. Perhaps most importantly, about 69% of downtime incidents were unrelated to operator error. That's a critical distinction for leadership — it tells us the biggest opportunity is in fixing systems and processes, not in disciplining or replacing people.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how downtime evolved over the six-month period, we see clear fluctuation rather than a flat pattern. April showed a sharp spike, driven mainly by increased downtime in GreenFoam Hand Soap and RePack Recycled Packaging Film production. Things improved through a downward trend from May to July, but BioWipe Cleaning Sheets bucked that trend with a consistent increase across the same window, and August recorded another high point, again led by GreenFoam Hand Soap. Recognizing these seasonal and product-specific patterns lets management proactively allocate resources and schedule preventive measures during the periods we now know carry the most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operator scheduling: Paul, James, and Emily show the highest downtime frequency, while Linda, Sophia, and Rita show the highest percentage of delayed batches — two related but distinct signals. The major factors behind operator-linked downtime are safety lockout and emergency stop events, cleaning and sanitation cycles, scheduling and coordination delays, and machine breakdown. More structurally, we found 51 separate days where operators were assigned to multiple batches simultaneously — 131 instances of scheduling overlap across 109 batches in total. That's a workforce-planning gap, not a performance problem, and it's directly addressable through better shift allocation.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all of this matter to leadership? Persistent downtime doesn't stay contained to the shop floor — it compounds into reduced productivity, higher operating costs, delayed order fulfillment, and, over time, a weaker competitive position. Those 21.74 lost days aren't just an internal metric; they represent real capacity that could have gone toward fulfillable customer orders. If these patterns go unaddressed, we risk both rising costs and declining customer satisfaction — which is exactly why the recommendations on the next slide are structured around the root causes we've just walked through.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we've reviewed, here are five concrete recommendations. First, preventive maintenance programs to reduce equipment-related disruptions before they happen. Second, real-time inventory monitoring with automated alerts to prevent material-shortage delays. Third, targeted operator training paired with monthly performance reviews. Fourth, scheduling optimization that uses our historical data to avoid the concurrent-batch overlaps we identified. And fifth, adopting real-time monitoring dashboards more broadly so leadership always has current, accurate visibility rather than waiting for a monthly report. Together, these five actions directly target the root causes identified in this analysis.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personal note, this project stretched my technical toolkit considerably. I deepened my hands-on experience with PostgreSQL and SQL for extracting and validating production data, built out Power BI dashboards from scratch, and wrote custom DAX measures to power live KPIs. Beyond the technical tools, I also developed my dashboard design sense — thinking about layout and clarity for a non-technical audience — and, maybe most importantly, my data storytelling: turning a dense dataset into a narrative that a leadership team can act on in fifteen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this project demonstrated how data analytics can be leveraged to solve real operational business problems, not just describe them after the fact. On the technical side, I reinforced skills across SQL, PostgreSQL, Power BI, DAX, dashboard development, data storytelling, and — importantly — stakeholder communication, since a dashboard only creates value once someone can act on it. If I take one lesson forward, it's that the real value of a project like this isn't the analysis itself, it's the translation of that analysis into something a leadership team can actually use to make a decision.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set out to identify why GreenTech was losing production days to downtime, and I believe the data gives us a clear, actionable answer. We now have 645 batches and 13 downtime factors mapped across six months in three interactive dashboards. We know that 69% of downtime is process-driven, meaning the biggest wins available to us are structural, not about individual performance. And we've translated that into five concrete recommendations that can realistically reduce delays and cost. Thank you again for your time and engagement throughout this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the formal presentation. Thank you again for your attention — I'd now like to open the floor for questions, whether on the methodology behind the analysis, any of the specific findings, or the recommendations I've proposed. I'm also happy to walk through the live Power BI dashboards in more detail if that would be useful.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this project demonstrated how data analytics can be leveraged to solve real operational business problems, not just describe them after the fact. On the technical side, I reinforced skills across SQL, PostgreSQL, Power BI, DAX, dashboard development, data storytelling, and — importantly — stakeholder communication, since a dashboard only creates value once someone can act on it. If I take one lesson forward, it's that the real value of a project like this isn't the analysis itself, it's the translation of that analysis into something a leadership team can actually use to make a decision.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82661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this project demonstrated how data analytics can be leveraged to solve real operational business problems, not just describe them after the fact. On the technical side, I reinforced skills across SQL, PostgreSQL, Power BI, DAX, dashboard development, data storytelling, and — importantly — stakeholder communication, since a dashboard only creates value once someone can act on it. If I take one lesson forward, it's that the real value of a project like this isn't the analysis itself, it's the translation of that analysis into something a leadership team can actually use to make a decision.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292286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this project demonstrated how data analytics can be leveraged to solve real operational business problems, not just describe them after the fact. On the technical side, I reinforced skills across SQL, PostgreSQL, Power BI, DAX, dashboard development, data storytelling, and — importantly — stakeholder communication, since a dashboard only creates value once someone can act on it. If I take one lesson forward, it's that the real value of a project like this isn't the analysis itself, it's the translation of that analysis into something a leadership team can actually use to make a decision.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99216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486400" cy="5486400"/>
          </a:xfrm>
          <a:prstGeom prst="ellipse">
            <a:avLst/>
          </a:prstGeom>
          <a:solidFill>
            <a:srgbClr val="2D6A4F">
              <a:alpha val="45000"/>
            </a:srgbClr>
          </a:solidFill>
          <a:ln/>
        </p:spPr>
      </p:sp>
      <p:sp>
        <p:nvSpPr>
          <p:cNvPr id="3" name="Shape 1"/>
          <p:cNvSpPr/>
          <p:nvPr/>
        </p:nvSpPr>
        <p:spPr>
          <a:xfrm>
            <a:off x="-2377440" y="4297680"/>
            <a:ext cx="4572000" cy="4572000"/>
          </a:xfrm>
          <a:prstGeom prst="ellipse">
            <a:avLst/>
          </a:prstGeom>
          <a:solidFill>
            <a:srgbClr val="4C956C">
              <a:alpha val="35000"/>
            </a:srgbClr>
          </a:solidFill>
          <a:ln/>
        </p:spPr>
      </p:sp>
      <p:pic>
        <p:nvPicPr>
          <p:cNvPr id="4" name="Image 0" descr="/home/claude/assets/logo.jpeg"/>
          <p:cNvPicPr>
            <a:picLocks noChangeAspect="1"/>
          </p:cNvPicPr>
          <p:nvPr/>
        </p:nvPicPr>
        <p:blipFill>
          <a:blip r:embed="rId3"/>
          <a:stretch>
            <a:fillRect/>
          </a:stretch>
        </p:blipFill>
        <p:spPr>
          <a:xfrm>
            <a:off x="9784080" y="502920"/>
            <a:ext cx="1737360" cy="1764792"/>
          </a:xfrm>
          <a:prstGeom prst="rect">
            <a:avLst/>
          </a:prstGeom>
        </p:spPr>
      </p:pic>
      <p:sp>
        <p:nvSpPr>
          <p:cNvPr id="5" name="Text 2"/>
          <p:cNvSpPr/>
          <p:nvPr/>
        </p:nvSpPr>
        <p:spPr>
          <a:xfrm>
            <a:off x="822960" y="2286000"/>
            <a:ext cx="7315200" cy="365760"/>
          </a:xfrm>
          <a:prstGeom prst="rect">
            <a:avLst/>
          </a:prstGeom>
          <a:noFill/>
          <a:ln/>
        </p:spPr>
        <p:txBody>
          <a:bodyPr wrap="square" lIns="0" tIns="0" rIns="0" bIns="0" rtlCol="0" anchor="ctr"/>
          <a:lstStyle/>
          <a:p>
            <a:pPr marL="0" indent="0">
              <a:buNone/>
            </a:pPr>
            <a:r>
              <a:rPr lang="en-US" sz="1400" b="1" kern="0" spc="300" dirty="0">
                <a:solidFill>
                  <a:srgbClr val="95D5B2"/>
                </a:solidFill>
                <a:latin typeface="Calibri" pitchFamily="34" charset="0"/>
                <a:ea typeface="Calibri" pitchFamily="34" charset="-122"/>
                <a:cs typeface="Calibri" pitchFamily="34" charset="-120"/>
              </a:rPr>
              <a:t>EXECUTIVE STAKEHOLDER BRIEFING</a:t>
            </a:r>
            <a:endParaRPr lang="en-US" sz="1400" dirty="0"/>
          </a:p>
        </p:txBody>
      </p:sp>
      <p:sp>
        <p:nvSpPr>
          <p:cNvPr id="6" name="Text 3"/>
          <p:cNvSpPr/>
          <p:nvPr/>
        </p:nvSpPr>
        <p:spPr>
          <a:xfrm>
            <a:off x="777240" y="2651760"/>
            <a:ext cx="960120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GreenTech Downtime</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Analysis Project</a:t>
            </a:r>
            <a:endParaRPr lang="en-US" sz="4400" dirty="0"/>
          </a:p>
        </p:txBody>
      </p:sp>
      <p:sp>
        <p:nvSpPr>
          <p:cNvPr id="7" name="Text 4"/>
          <p:cNvSpPr/>
          <p:nvPr/>
        </p:nvSpPr>
        <p:spPr>
          <a:xfrm>
            <a:off x="822960" y="4434840"/>
            <a:ext cx="8869680" cy="457200"/>
          </a:xfrm>
          <a:prstGeom prst="rect">
            <a:avLst/>
          </a:prstGeom>
          <a:noFill/>
          <a:ln/>
        </p:spPr>
        <p:txBody>
          <a:bodyPr wrap="square" lIns="0" tIns="0" rIns="0" bIns="0" rtlCol="0" anchor="ctr"/>
          <a:lstStyle/>
          <a:p>
            <a:pPr marL="0" indent="0">
              <a:buNone/>
            </a:pPr>
            <a:r>
              <a:rPr lang="en-US" sz="1600" i="1" dirty="0">
                <a:solidFill>
                  <a:srgbClr val="D7E9DD"/>
                </a:solidFill>
                <a:latin typeface="Calibri" pitchFamily="34" charset="0"/>
                <a:ea typeface="Calibri" pitchFamily="34" charset="-122"/>
                <a:cs typeface="Calibri" pitchFamily="34" charset="-120"/>
              </a:rPr>
              <a:t>Evaluating Production Bottlenecks Through Data-Driven Insight</a:t>
            </a:r>
            <a:endParaRPr lang="en-US" sz="1600" dirty="0"/>
          </a:p>
        </p:txBody>
      </p:sp>
      <p:sp>
        <p:nvSpPr>
          <p:cNvPr id="8" name="Shape 5"/>
          <p:cNvSpPr/>
          <p:nvPr/>
        </p:nvSpPr>
        <p:spPr>
          <a:xfrm>
            <a:off x="822960" y="5074920"/>
            <a:ext cx="2011680" cy="0"/>
          </a:xfrm>
          <a:prstGeom prst="line">
            <a:avLst/>
          </a:prstGeom>
          <a:noFill/>
          <a:ln w="25400">
            <a:solidFill>
              <a:srgbClr val="95D5B2"/>
            </a:solidFill>
            <a:prstDash val="solid"/>
          </a:ln>
        </p:spPr>
      </p:sp>
      <p:sp>
        <p:nvSpPr>
          <p:cNvPr id="9" name="Text 6"/>
          <p:cNvSpPr/>
          <p:nvPr/>
        </p:nvSpPr>
        <p:spPr>
          <a:xfrm>
            <a:off x="822960" y="5230368"/>
            <a:ext cx="7315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Presented by Sarah Abhulimhen</a:t>
            </a:r>
            <a:endParaRPr lang="en-US" sz="1500" dirty="0"/>
          </a:p>
        </p:txBody>
      </p:sp>
      <p:sp>
        <p:nvSpPr>
          <p:cNvPr id="10" name="Text 7"/>
          <p:cNvSpPr/>
          <p:nvPr/>
        </p:nvSpPr>
        <p:spPr>
          <a:xfrm>
            <a:off x="822960" y="5605272"/>
            <a:ext cx="7315200" cy="365760"/>
          </a:xfrm>
          <a:prstGeom prst="rect">
            <a:avLst/>
          </a:prstGeom>
          <a:noFill/>
          <a:ln/>
        </p:spPr>
        <p:txBody>
          <a:bodyPr wrap="square" lIns="0" tIns="0" rIns="0" bIns="0" rtlCol="0" anchor="ctr"/>
          <a:lstStyle/>
          <a:p>
            <a:pPr marL="0" indent="0">
              <a:buNone/>
            </a:pPr>
            <a:r>
              <a:rPr lang="en-US" sz="1300" dirty="0">
                <a:solidFill>
                  <a:srgbClr val="BFDCC9"/>
                </a:solidFill>
                <a:latin typeface="Calibri" pitchFamily="34" charset="0"/>
                <a:ea typeface="Calibri" pitchFamily="34" charset="-122"/>
                <a:cs typeface="Calibri" pitchFamily="34" charset="-120"/>
              </a:rPr>
              <a:t>Data Analyst Intern  |  GreenTech Manufacturing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640080" y="1719072"/>
            <a:ext cx="502920" cy="502920"/>
          </a:xfrm>
          <a:prstGeom prst="ellipse">
            <a:avLst/>
          </a:prstGeom>
          <a:solidFill>
            <a:srgbClr val="DCEEE2"/>
          </a:solidFill>
          <a:ln/>
        </p:spPr>
      </p:sp>
      <p:pic>
        <p:nvPicPr>
          <p:cNvPr id="5" name="Image 0" descr="/home/claude/icons/building_mid.png"/>
          <p:cNvPicPr>
            <a:picLocks noChangeAspect="1"/>
          </p:cNvPicPr>
          <p:nvPr/>
        </p:nvPicPr>
        <p:blipFill>
          <a:blip r:embed="rId3"/>
          <a:stretch>
            <a:fillRect/>
          </a:stretch>
        </p:blipFill>
        <p:spPr>
          <a:xfrm>
            <a:off x="765810" y="1844802"/>
            <a:ext cx="251460" cy="251460"/>
          </a:xfrm>
          <a:prstGeom prst="rect">
            <a:avLst/>
          </a:prstGeom>
        </p:spPr>
      </p:pic>
      <p:sp>
        <p:nvSpPr>
          <p:cNvPr id="6" name="Text 3"/>
          <p:cNvSpPr/>
          <p:nvPr/>
        </p:nvSpPr>
        <p:spPr>
          <a:xfrm>
            <a:off x="1371600" y="1645920"/>
            <a:ext cx="640080" cy="54864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01</a:t>
            </a:r>
            <a:endParaRPr lang="en-US" sz="2000" dirty="0"/>
          </a:p>
        </p:txBody>
      </p:sp>
      <p:sp>
        <p:nvSpPr>
          <p:cNvPr id="7" name="Text 4"/>
          <p:cNvSpPr/>
          <p:nvPr/>
        </p:nvSpPr>
        <p:spPr>
          <a:xfrm>
            <a:off x="2057400" y="1636776"/>
            <a:ext cx="8778240" cy="411480"/>
          </a:xfrm>
          <a:prstGeom prst="rect">
            <a:avLst/>
          </a:prstGeom>
          <a:noFill/>
          <a:ln/>
        </p:spPr>
        <p:txBody>
          <a:bodyPr wrap="square" lIns="0" tIns="0" rIns="0" bIns="0"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Company &amp; Business Context</a:t>
            </a:r>
            <a:endParaRPr lang="en-US" sz="1700" dirty="0"/>
          </a:p>
        </p:txBody>
      </p:sp>
      <p:sp>
        <p:nvSpPr>
          <p:cNvPr id="8" name="Text 5"/>
          <p:cNvSpPr/>
          <p:nvPr/>
        </p:nvSpPr>
        <p:spPr>
          <a:xfrm>
            <a:off x="2057400" y="2039112"/>
            <a:ext cx="8778240" cy="365760"/>
          </a:xfrm>
          <a:prstGeom prst="rect">
            <a:avLst/>
          </a:prstGeom>
          <a:noFill/>
          <a:ln/>
        </p:spPr>
        <p:txBody>
          <a:bodyPr wrap="square" lIns="0" tIns="0" rIns="0" bIns="0" rtlCol="0" anchor="ctr"/>
          <a:lstStyle/>
          <a:p>
            <a:pPr marL="0" indent="0">
              <a:buNone/>
            </a:pPr>
            <a:r>
              <a:rPr lang="en-US" sz="1250" dirty="0">
                <a:solidFill>
                  <a:srgbClr val="5B7B6A"/>
                </a:solidFill>
                <a:latin typeface="Calibri" pitchFamily="34" charset="0"/>
                <a:ea typeface="Calibri" pitchFamily="34" charset="-122"/>
                <a:cs typeface="Calibri" pitchFamily="34" charset="-120"/>
              </a:rPr>
              <a:t>Overview, challenges, and project objectives</a:t>
            </a:r>
            <a:endParaRPr lang="en-US" sz="1250" dirty="0"/>
          </a:p>
        </p:txBody>
      </p:sp>
      <p:sp>
        <p:nvSpPr>
          <p:cNvPr id="9" name="Shape 6"/>
          <p:cNvSpPr/>
          <p:nvPr/>
        </p:nvSpPr>
        <p:spPr>
          <a:xfrm>
            <a:off x="640080" y="2450592"/>
            <a:ext cx="10332720" cy="0"/>
          </a:xfrm>
          <a:prstGeom prst="line">
            <a:avLst/>
          </a:prstGeom>
          <a:noFill/>
          <a:ln w="9525">
            <a:solidFill>
              <a:srgbClr val="C9DED2"/>
            </a:solidFill>
            <a:prstDash val="solid"/>
          </a:ln>
        </p:spPr>
      </p:sp>
      <p:sp>
        <p:nvSpPr>
          <p:cNvPr id="10" name="Shape 7"/>
          <p:cNvSpPr/>
          <p:nvPr/>
        </p:nvSpPr>
        <p:spPr>
          <a:xfrm>
            <a:off x="640080" y="2587752"/>
            <a:ext cx="502920" cy="502920"/>
          </a:xfrm>
          <a:prstGeom prst="ellipse">
            <a:avLst/>
          </a:prstGeom>
          <a:solidFill>
            <a:srgbClr val="DCEEE2"/>
          </a:solidFill>
          <a:ln/>
        </p:spPr>
      </p:sp>
      <p:pic>
        <p:nvPicPr>
          <p:cNvPr id="11" name="Image 1" descr="/home/claude/icons/cogs_mid.png"/>
          <p:cNvPicPr>
            <a:picLocks noChangeAspect="1"/>
          </p:cNvPicPr>
          <p:nvPr/>
        </p:nvPicPr>
        <p:blipFill>
          <a:blip r:embed="rId4"/>
          <a:stretch>
            <a:fillRect/>
          </a:stretch>
        </p:blipFill>
        <p:spPr>
          <a:xfrm>
            <a:off x="765810" y="2713482"/>
            <a:ext cx="251460" cy="251460"/>
          </a:xfrm>
          <a:prstGeom prst="rect">
            <a:avLst/>
          </a:prstGeom>
        </p:spPr>
      </p:pic>
      <p:sp>
        <p:nvSpPr>
          <p:cNvPr id="12" name="Text 8"/>
          <p:cNvSpPr/>
          <p:nvPr/>
        </p:nvSpPr>
        <p:spPr>
          <a:xfrm>
            <a:off x="1371600" y="2514600"/>
            <a:ext cx="640080" cy="54864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02</a:t>
            </a:r>
            <a:endParaRPr lang="en-US" sz="2000" dirty="0"/>
          </a:p>
        </p:txBody>
      </p:sp>
      <p:sp>
        <p:nvSpPr>
          <p:cNvPr id="13" name="Text 9"/>
          <p:cNvSpPr/>
          <p:nvPr/>
        </p:nvSpPr>
        <p:spPr>
          <a:xfrm>
            <a:off x="2057400" y="2505456"/>
            <a:ext cx="8778240" cy="411480"/>
          </a:xfrm>
          <a:prstGeom prst="rect">
            <a:avLst/>
          </a:prstGeom>
          <a:noFill/>
          <a:ln/>
        </p:spPr>
        <p:txBody>
          <a:bodyPr wrap="square" lIns="0" tIns="0" rIns="0" bIns="0"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Methodology &amp; Architecture</a:t>
            </a:r>
            <a:endParaRPr lang="en-US" sz="1700" dirty="0"/>
          </a:p>
        </p:txBody>
      </p:sp>
      <p:sp>
        <p:nvSpPr>
          <p:cNvPr id="14" name="Text 10"/>
          <p:cNvSpPr/>
          <p:nvPr/>
        </p:nvSpPr>
        <p:spPr>
          <a:xfrm>
            <a:off x="2057400" y="2907792"/>
            <a:ext cx="8778240" cy="365760"/>
          </a:xfrm>
          <a:prstGeom prst="rect">
            <a:avLst/>
          </a:prstGeom>
          <a:noFill/>
          <a:ln/>
        </p:spPr>
        <p:txBody>
          <a:bodyPr wrap="square" lIns="0" tIns="0" rIns="0" bIns="0" rtlCol="0" anchor="ctr"/>
          <a:lstStyle/>
          <a:p>
            <a:pPr marL="0" indent="0">
              <a:buNone/>
            </a:pPr>
            <a:r>
              <a:rPr lang="en-US" sz="1250" dirty="0">
                <a:solidFill>
                  <a:srgbClr val="5B7B6A"/>
                </a:solidFill>
                <a:latin typeface="Calibri" pitchFamily="34" charset="0"/>
                <a:ea typeface="Calibri" pitchFamily="34" charset="-122"/>
                <a:cs typeface="Calibri" pitchFamily="34" charset="-120"/>
              </a:rPr>
              <a:t>Tools, data workflow, and dashboard design</a:t>
            </a:r>
            <a:endParaRPr lang="en-US" sz="1250" dirty="0"/>
          </a:p>
        </p:txBody>
      </p:sp>
      <p:sp>
        <p:nvSpPr>
          <p:cNvPr id="15" name="Shape 11"/>
          <p:cNvSpPr/>
          <p:nvPr/>
        </p:nvSpPr>
        <p:spPr>
          <a:xfrm>
            <a:off x="640080" y="3319272"/>
            <a:ext cx="10332720" cy="0"/>
          </a:xfrm>
          <a:prstGeom prst="line">
            <a:avLst/>
          </a:prstGeom>
          <a:noFill/>
          <a:ln w="9525">
            <a:solidFill>
              <a:srgbClr val="C9DED2"/>
            </a:solidFill>
            <a:prstDash val="solid"/>
          </a:ln>
        </p:spPr>
      </p:sp>
      <p:sp>
        <p:nvSpPr>
          <p:cNvPr id="16" name="Shape 12"/>
          <p:cNvSpPr/>
          <p:nvPr/>
        </p:nvSpPr>
        <p:spPr>
          <a:xfrm>
            <a:off x="640080" y="3456432"/>
            <a:ext cx="502920" cy="502920"/>
          </a:xfrm>
          <a:prstGeom prst="ellipse">
            <a:avLst/>
          </a:prstGeom>
          <a:solidFill>
            <a:srgbClr val="DCEEE2"/>
          </a:solidFill>
          <a:ln/>
        </p:spPr>
      </p:sp>
      <p:pic>
        <p:nvPicPr>
          <p:cNvPr id="17" name="Image 2" descr="/home/claude/icons/chartbar_mid.png"/>
          <p:cNvPicPr>
            <a:picLocks noChangeAspect="1"/>
          </p:cNvPicPr>
          <p:nvPr/>
        </p:nvPicPr>
        <p:blipFill>
          <a:blip r:embed="rId5"/>
          <a:stretch>
            <a:fillRect/>
          </a:stretch>
        </p:blipFill>
        <p:spPr>
          <a:xfrm>
            <a:off x="765810" y="3582162"/>
            <a:ext cx="251460" cy="251460"/>
          </a:xfrm>
          <a:prstGeom prst="rect">
            <a:avLst/>
          </a:prstGeom>
        </p:spPr>
      </p:pic>
      <p:sp>
        <p:nvSpPr>
          <p:cNvPr id="18" name="Text 13"/>
          <p:cNvSpPr/>
          <p:nvPr/>
        </p:nvSpPr>
        <p:spPr>
          <a:xfrm>
            <a:off x="1371600" y="3383280"/>
            <a:ext cx="640080" cy="54864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03</a:t>
            </a:r>
            <a:endParaRPr lang="en-US" sz="2000" dirty="0"/>
          </a:p>
        </p:txBody>
      </p:sp>
      <p:sp>
        <p:nvSpPr>
          <p:cNvPr id="19" name="Text 14"/>
          <p:cNvSpPr/>
          <p:nvPr/>
        </p:nvSpPr>
        <p:spPr>
          <a:xfrm>
            <a:off x="2057400" y="3374136"/>
            <a:ext cx="8778240" cy="411480"/>
          </a:xfrm>
          <a:prstGeom prst="rect">
            <a:avLst/>
          </a:prstGeom>
          <a:noFill/>
          <a:ln/>
        </p:spPr>
        <p:txBody>
          <a:bodyPr wrap="square" lIns="0" tIns="0" rIns="0" bIns="0"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Key Findings</a:t>
            </a:r>
            <a:endParaRPr lang="en-US" sz="1700" dirty="0"/>
          </a:p>
        </p:txBody>
      </p:sp>
      <p:sp>
        <p:nvSpPr>
          <p:cNvPr id="20" name="Text 15"/>
          <p:cNvSpPr/>
          <p:nvPr/>
        </p:nvSpPr>
        <p:spPr>
          <a:xfrm>
            <a:off x="2057400" y="3776472"/>
            <a:ext cx="8778240" cy="365760"/>
          </a:xfrm>
          <a:prstGeom prst="rect">
            <a:avLst/>
          </a:prstGeom>
          <a:noFill/>
          <a:ln/>
        </p:spPr>
        <p:txBody>
          <a:bodyPr wrap="square" lIns="0" tIns="0" rIns="0" bIns="0" rtlCol="0" anchor="ctr"/>
          <a:lstStyle/>
          <a:p>
            <a:pPr marL="0" indent="0">
              <a:buNone/>
            </a:pPr>
            <a:r>
              <a:rPr lang="en-US" sz="1250" dirty="0">
                <a:solidFill>
                  <a:srgbClr val="5B7B6A"/>
                </a:solidFill>
                <a:latin typeface="Calibri" pitchFamily="34" charset="0"/>
                <a:ea typeface="Calibri" pitchFamily="34" charset="-122"/>
                <a:cs typeface="Calibri" pitchFamily="34" charset="-120"/>
              </a:rPr>
              <a:t>Downtime factors, duration trends, and operator analysis</a:t>
            </a:r>
            <a:endParaRPr lang="en-US" sz="1250" dirty="0"/>
          </a:p>
        </p:txBody>
      </p:sp>
      <p:sp>
        <p:nvSpPr>
          <p:cNvPr id="21" name="Shape 16"/>
          <p:cNvSpPr/>
          <p:nvPr/>
        </p:nvSpPr>
        <p:spPr>
          <a:xfrm>
            <a:off x="640080" y="4187952"/>
            <a:ext cx="10332720" cy="0"/>
          </a:xfrm>
          <a:prstGeom prst="line">
            <a:avLst/>
          </a:prstGeom>
          <a:noFill/>
          <a:ln w="9525">
            <a:solidFill>
              <a:srgbClr val="C9DED2"/>
            </a:solidFill>
            <a:prstDash val="solid"/>
          </a:ln>
        </p:spPr>
      </p:sp>
      <p:sp>
        <p:nvSpPr>
          <p:cNvPr id="22" name="Shape 17"/>
          <p:cNvSpPr/>
          <p:nvPr/>
        </p:nvSpPr>
        <p:spPr>
          <a:xfrm>
            <a:off x="640080" y="4325112"/>
            <a:ext cx="502920" cy="502920"/>
          </a:xfrm>
          <a:prstGeom prst="ellipse">
            <a:avLst/>
          </a:prstGeom>
          <a:solidFill>
            <a:srgbClr val="DCEEE2"/>
          </a:solidFill>
          <a:ln/>
        </p:spPr>
      </p:sp>
      <p:pic>
        <p:nvPicPr>
          <p:cNvPr id="23" name="Image 3" descr="/home/claude/icons/trend_mid.png"/>
          <p:cNvPicPr>
            <a:picLocks noChangeAspect="1"/>
          </p:cNvPicPr>
          <p:nvPr/>
        </p:nvPicPr>
        <p:blipFill>
          <a:blip r:embed="rId6"/>
          <a:stretch>
            <a:fillRect/>
          </a:stretch>
        </p:blipFill>
        <p:spPr>
          <a:xfrm>
            <a:off x="765810" y="4450842"/>
            <a:ext cx="251460" cy="251460"/>
          </a:xfrm>
          <a:prstGeom prst="rect">
            <a:avLst/>
          </a:prstGeom>
        </p:spPr>
      </p:pic>
      <p:sp>
        <p:nvSpPr>
          <p:cNvPr id="24" name="Text 18"/>
          <p:cNvSpPr/>
          <p:nvPr/>
        </p:nvSpPr>
        <p:spPr>
          <a:xfrm>
            <a:off x="1371600" y="4251960"/>
            <a:ext cx="640080" cy="54864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04</a:t>
            </a:r>
            <a:endParaRPr lang="en-US" sz="2000" dirty="0"/>
          </a:p>
        </p:txBody>
      </p:sp>
      <p:sp>
        <p:nvSpPr>
          <p:cNvPr id="25" name="Text 19"/>
          <p:cNvSpPr/>
          <p:nvPr/>
        </p:nvSpPr>
        <p:spPr>
          <a:xfrm>
            <a:off x="2057400" y="4242816"/>
            <a:ext cx="8778240" cy="411480"/>
          </a:xfrm>
          <a:prstGeom prst="rect">
            <a:avLst/>
          </a:prstGeom>
          <a:noFill/>
          <a:ln/>
        </p:spPr>
        <p:txBody>
          <a:bodyPr wrap="square" lIns="0" tIns="0" rIns="0" bIns="0"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Business Impact &amp; Recommendations</a:t>
            </a:r>
            <a:endParaRPr lang="en-US" sz="1700" dirty="0"/>
          </a:p>
        </p:txBody>
      </p:sp>
      <p:sp>
        <p:nvSpPr>
          <p:cNvPr id="26" name="Text 20"/>
          <p:cNvSpPr/>
          <p:nvPr/>
        </p:nvSpPr>
        <p:spPr>
          <a:xfrm>
            <a:off x="2057400" y="4645152"/>
            <a:ext cx="8778240" cy="365760"/>
          </a:xfrm>
          <a:prstGeom prst="rect">
            <a:avLst/>
          </a:prstGeom>
          <a:noFill/>
          <a:ln/>
        </p:spPr>
        <p:txBody>
          <a:bodyPr wrap="square" lIns="0" tIns="0" rIns="0" bIns="0" rtlCol="0" anchor="ctr"/>
          <a:lstStyle/>
          <a:p>
            <a:pPr marL="0" indent="0">
              <a:buNone/>
            </a:pPr>
            <a:r>
              <a:rPr lang="en-US" sz="1250" dirty="0">
                <a:solidFill>
                  <a:srgbClr val="5B7B6A"/>
                </a:solidFill>
                <a:latin typeface="Calibri" pitchFamily="34" charset="0"/>
                <a:ea typeface="Calibri" pitchFamily="34" charset="-122"/>
                <a:cs typeface="Calibri" pitchFamily="34" charset="-120"/>
              </a:rPr>
              <a:t>Cost implications and an improvement roadmap</a:t>
            </a:r>
            <a:endParaRPr lang="en-US" sz="1250" dirty="0"/>
          </a:p>
        </p:txBody>
      </p:sp>
      <p:sp>
        <p:nvSpPr>
          <p:cNvPr id="27" name="Shape 21"/>
          <p:cNvSpPr/>
          <p:nvPr/>
        </p:nvSpPr>
        <p:spPr>
          <a:xfrm>
            <a:off x="640080" y="5056632"/>
            <a:ext cx="10332720" cy="0"/>
          </a:xfrm>
          <a:prstGeom prst="line">
            <a:avLst/>
          </a:prstGeom>
          <a:noFill/>
          <a:ln w="9525">
            <a:solidFill>
              <a:srgbClr val="C9DED2"/>
            </a:solidFill>
            <a:prstDash val="solid"/>
          </a:ln>
        </p:spPr>
      </p:sp>
      <p:sp>
        <p:nvSpPr>
          <p:cNvPr id="28" name="Shape 22"/>
          <p:cNvSpPr/>
          <p:nvPr/>
        </p:nvSpPr>
        <p:spPr>
          <a:xfrm>
            <a:off x="640080" y="5193792"/>
            <a:ext cx="502920" cy="502920"/>
          </a:xfrm>
          <a:prstGeom prst="ellipse">
            <a:avLst/>
          </a:prstGeom>
          <a:solidFill>
            <a:srgbClr val="DCEEE2"/>
          </a:solidFill>
          <a:ln/>
        </p:spPr>
      </p:sp>
      <p:pic>
        <p:nvPicPr>
          <p:cNvPr id="29" name="Image 4" descr="/home/claude/icons/gradcap_mid.png"/>
          <p:cNvPicPr>
            <a:picLocks noChangeAspect="1"/>
          </p:cNvPicPr>
          <p:nvPr/>
        </p:nvPicPr>
        <p:blipFill>
          <a:blip r:embed="rId7"/>
          <a:stretch>
            <a:fillRect/>
          </a:stretch>
        </p:blipFill>
        <p:spPr>
          <a:xfrm>
            <a:off x="765810" y="5319522"/>
            <a:ext cx="251460" cy="251460"/>
          </a:xfrm>
          <a:prstGeom prst="rect">
            <a:avLst/>
          </a:prstGeom>
        </p:spPr>
      </p:pic>
      <p:sp>
        <p:nvSpPr>
          <p:cNvPr id="30" name="Text 23"/>
          <p:cNvSpPr/>
          <p:nvPr/>
        </p:nvSpPr>
        <p:spPr>
          <a:xfrm>
            <a:off x="1371600" y="5120640"/>
            <a:ext cx="640080" cy="54864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05</a:t>
            </a:r>
            <a:endParaRPr lang="en-US" sz="2000" dirty="0"/>
          </a:p>
        </p:txBody>
      </p:sp>
      <p:sp>
        <p:nvSpPr>
          <p:cNvPr id="31" name="Text 24"/>
          <p:cNvSpPr/>
          <p:nvPr/>
        </p:nvSpPr>
        <p:spPr>
          <a:xfrm>
            <a:off x="2057400" y="5111496"/>
            <a:ext cx="8778240" cy="411480"/>
          </a:xfrm>
          <a:prstGeom prst="rect">
            <a:avLst/>
          </a:prstGeom>
          <a:noFill/>
          <a:ln/>
        </p:spPr>
        <p:txBody>
          <a:bodyPr wrap="square" lIns="0" tIns="0" rIns="0" bIns="0"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Skills, Reflection &amp; Close</a:t>
            </a:r>
            <a:endParaRPr lang="en-US" sz="1700" dirty="0"/>
          </a:p>
        </p:txBody>
      </p:sp>
      <p:sp>
        <p:nvSpPr>
          <p:cNvPr id="32" name="Text 25"/>
          <p:cNvSpPr/>
          <p:nvPr/>
        </p:nvSpPr>
        <p:spPr>
          <a:xfrm>
            <a:off x="2057400" y="5513832"/>
            <a:ext cx="8778240" cy="365760"/>
          </a:xfrm>
          <a:prstGeom prst="rect">
            <a:avLst/>
          </a:prstGeom>
          <a:noFill/>
          <a:ln/>
        </p:spPr>
        <p:txBody>
          <a:bodyPr wrap="square" lIns="0" tIns="0" rIns="0" bIns="0" rtlCol="0" anchor="ctr"/>
          <a:lstStyle/>
          <a:p>
            <a:pPr marL="0" indent="0">
              <a:buNone/>
            </a:pPr>
            <a:r>
              <a:rPr lang="en-US" sz="1250" dirty="0">
                <a:solidFill>
                  <a:srgbClr val="5B7B6A"/>
                </a:solidFill>
                <a:latin typeface="Calibri" pitchFamily="34" charset="0"/>
                <a:ea typeface="Calibri" pitchFamily="34" charset="-122"/>
                <a:cs typeface="Calibri" pitchFamily="34" charset="-120"/>
              </a:rPr>
              <a:t>What was learned, and next steps</a:t>
            </a:r>
            <a:endParaRPr lang="en-US" sz="1250" dirty="0"/>
          </a:p>
        </p:txBody>
      </p:sp>
      <p:sp>
        <p:nvSpPr>
          <p:cNvPr id="33"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34"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95D5B2"/>
                </a:solidFill>
                <a:latin typeface="Calibri" pitchFamily="34" charset="0"/>
                <a:ea typeface="Calibri" pitchFamily="34" charset="-122"/>
                <a:cs typeface="Calibri" pitchFamily="34" charset="-120"/>
              </a:rPr>
              <a:t>AT A GLANCE</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Executive Summary</a:t>
            </a:r>
            <a:endParaRPr lang="en-US" sz="3000" dirty="0"/>
          </a:p>
        </p:txBody>
      </p:sp>
      <p:sp>
        <p:nvSpPr>
          <p:cNvPr id="4" name="Text 2"/>
          <p:cNvSpPr/>
          <p:nvPr/>
        </p:nvSpPr>
        <p:spPr>
          <a:xfrm>
            <a:off x="548640" y="1417320"/>
            <a:ext cx="11064240" cy="594360"/>
          </a:xfrm>
          <a:prstGeom prst="rect">
            <a:avLst/>
          </a:prstGeom>
          <a:noFill/>
          <a:ln/>
        </p:spPr>
        <p:txBody>
          <a:bodyPr wrap="square" lIns="0" tIns="0" rIns="0" bIns="0" rtlCol="0" anchor="ctr"/>
          <a:lstStyle/>
          <a:p>
            <a:pPr marL="0" indent="0">
              <a:buNone/>
            </a:pPr>
            <a:r>
              <a:rPr lang="en-US" sz="1450" i="1" dirty="0">
                <a:solidFill>
                  <a:srgbClr val="D7E9DD"/>
                </a:solidFill>
                <a:latin typeface="Calibri" pitchFamily="34" charset="0"/>
                <a:ea typeface="Calibri" pitchFamily="34" charset="-122"/>
                <a:cs typeface="Calibri" pitchFamily="34" charset="-120"/>
              </a:rPr>
              <a:t>Across six months of production data, downtime touched over half of all batches — but the root causes are concentrated, visible, and fixable.</a:t>
            </a:r>
            <a:endParaRPr lang="en-US" sz="1450" dirty="0"/>
          </a:p>
        </p:txBody>
      </p:sp>
      <p:sp>
        <p:nvSpPr>
          <p:cNvPr id="5" name="Shape 3"/>
          <p:cNvSpPr/>
          <p:nvPr/>
        </p:nvSpPr>
        <p:spPr>
          <a:xfrm>
            <a:off x="548640" y="2148840"/>
            <a:ext cx="3584448" cy="1325880"/>
          </a:xfrm>
          <a:prstGeom prst="roundRect">
            <a:avLst>
              <a:gd name="adj" fmla="val 5517"/>
            </a:avLst>
          </a:prstGeom>
          <a:solidFill>
            <a:srgbClr val="2D6A4F">
              <a:alpha val="75000"/>
            </a:srgbClr>
          </a:solidFill>
          <a:ln w="12700">
            <a:solidFill>
              <a:srgbClr val="4C956C"/>
            </a:solidFill>
            <a:prstDash val="solid"/>
          </a:ln>
        </p:spPr>
      </p:sp>
      <p:sp>
        <p:nvSpPr>
          <p:cNvPr id="6" name="Text 4"/>
          <p:cNvSpPr/>
          <p:nvPr/>
        </p:nvSpPr>
        <p:spPr>
          <a:xfrm>
            <a:off x="777240" y="2267712"/>
            <a:ext cx="3127248"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363 / 645</a:t>
            </a:r>
            <a:endParaRPr lang="en-US" sz="2500" dirty="0"/>
          </a:p>
        </p:txBody>
      </p:sp>
      <p:sp>
        <p:nvSpPr>
          <p:cNvPr id="7" name="Text 5"/>
          <p:cNvSpPr/>
          <p:nvPr/>
        </p:nvSpPr>
        <p:spPr>
          <a:xfrm>
            <a:off x="777240" y="2852928"/>
            <a:ext cx="3127248" cy="548640"/>
          </a:xfrm>
          <a:prstGeom prst="rect">
            <a:avLst/>
          </a:prstGeom>
          <a:noFill/>
          <a:ln/>
        </p:spPr>
        <p:txBody>
          <a:bodyPr wrap="square" lIns="0" tIns="0" rIns="0" bIns="0" rtlCol="0" anchor="ctr"/>
          <a:lstStyle/>
          <a:p>
            <a:pPr marL="0" indent="0">
              <a:buNone/>
            </a:pPr>
            <a:r>
              <a:rPr lang="en-US" sz="1150" dirty="0">
                <a:solidFill>
                  <a:srgbClr val="BFDCC9"/>
                </a:solidFill>
                <a:latin typeface="Calibri" pitchFamily="34" charset="0"/>
                <a:ea typeface="Calibri" pitchFamily="34" charset="-122"/>
                <a:cs typeface="Calibri" pitchFamily="34" charset="-120"/>
              </a:rPr>
              <a:t>batches delayed  (56%)</a:t>
            </a:r>
            <a:endParaRPr lang="en-US" sz="1150" dirty="0"/>
          </a:p>
        </p:txBody>
      </p:sp>
      <p:sp>
        <p:nvSpPr>
          <p:cNvPr id="8" name="Shape 6"/>
          <p:cNvSpPr/>
          <p:nvPr/>
        </p:nvSpPr>
        <p:spPr>
          <a:xfrm>
            <a:off x="4288536" y="2148840"/>
            <a:ext cx="3584448" cy="1325880"/>
          </a:xfrm>
          <a:prstGeom prst="roundRect">
            <a:avLst>
              <a:gd name="adj" fmla="val 5517"/>
            </a:avLst>
          </a:prstGeom>
          <a:solidFill>
            <a:srgbClr val="2D6A4F">
              <a:alpha val="75000"/>
            </a:srgbClr>
          </a:solidFill>
          <a:ln w="12700">
            <a:solidFill>
              <a:srgbClr val="4C956C"/>
            </a:solidFill>
            <a:prstDash val="solid"/>
          </a:ln>
        </p:spPr>
      </p:sp>
      <p:sp>
        <p:nvSpPr>
          <p:cNvPr id="9" name="Text 7"/>
          <p:cNvSpPr/>
          <p:nvPr/>
        </p:nvSpPr>
        <p:spPr>
          <a:xfrm>
            <a:off x="4517136" y="2267712"/>
            <a:ext cx="3127248"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21.74 days</a:t>
            </a:r>
            <a:endParaRPr lang="en-US" sz="2500" dirty="0"/>
          </a:p>
        </p:txBody>
      </p:sp>
      <p:sp>
        <p:nvSpPr>
          <p:cNvPr id="10" name="Text 8"/>
          <p:cNvSpPr/>
          <p:nvPr/>
        </p:nvSpPr>
        <p:spPr>
          <a:xfrm>
            <a:off x="4517136" y="2852928"/>
            <a:ext cx="3127248" cy="548640"/>
          </a:xfrm>
          <a:prstGeom prst="rect">
            <a:avLst/>
          </a:prstGeom>
          <a:noFill/>
          <a:ln/>
        </p:spPr>
        <p:txBody>
          <a:bodyPr wrap="square" lIns="0" tIns="0" rIns="0" bIns="0" rtlCol="0" anchor="ctr"/>
          <a:lstStyle/>
          <a:p>
            <a:pPr marL="0" indent="0">
              <a:buNone/>
            </a:pPr>
            <a:r>
              <a:rPr lang="en-US" sz="1150" dirty="0">
                <a:solidFill>
                  <a:srgbClr val="BFDCC9"/>
                </a:solidFill>
                <a:latin typeface="Calibri" pitchFamily="34" charset="0"/>
                <a:ea typeface="Calibri" pitchFamily="34" charset="-122"/>
                <a:cs typeface="Calibri" pitchFamily="34" charset="-120"/>
              </a:rPr>
              <a:t>lost to downtime</a:t>
            </a:r>
            <a:endParaRPr lang="en-US" sz="1150" dirty="0"/>
          </a:p>
        </p:txBody>
      </p:sp>
      <p:sp>
        <p:nvSpPr>
          <p:cNvPr id="11" name="Shape 9"/>
          <p:cNvSpPr/>
          <p:nvPr/>
        </p:nvSpPr>
        <p:spPr>
          <a:xfrm>
            <a:off x="8028432" y="2148840"/>
            <a:ext cx="3584448" cy="1325880"/>
          </a:xfrm>
          <a:prstGeom prst="roundRect">
            <a:avLst>
              <a:gd name="adj" fmla="val 5517"/>
            </a:avLst>
          </a:prstGeom>
          <a:solidFill>
            <a:srgbClr val="2D6A4F">
              <a:alpha val="75000"/>
            </a:srgbClr>
          </a:solidFill>
          <a:ln w="12700">
            <a:solidFill>
              <a:srgbClr val="4C956C"/>
            </a:solidFill>
            <a:prstDash val="solid"/>
          </a:ln>
        </p:spPr>
      </p:sp>
      <p:sp>
        <p:nvSpPr>
          <p:cNvPr id="12" name="Text 10"/>
          <p:cNvSpPr/>
          <p:nvPr/>
        </p:nvSpPr>
        <p:spPr>
          <a:xfrm>
            <a:off x="8257032" y="2267712"/>
            <a:ext cx="3127248" cy="59436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69%</a:t>
            </a:r>
            <a:endParaRPr lang="en-US" sz="2500" dirty="0"/>
          </a:p>
        </p:txBody>
      </p:sp>
      <p:sp>
        <p:nvSpPr>
          <p:cNvPr id="13" name="Text 11"/>
          <p:cNvSpPr/>
          <p:nvPr/>
        </p:nvSpPr>
        <p:spPr>
          <a:xfrm>
            <a:off x="8257032" y="2852928"/>
            <a:ext cx="3127248" cy="548640"/>
          </a:xfrm>
          <a:prstGeom prst="rect">
            <a:avLst/>
          </a:prstGeom>
          <a:noFill/>
          <a:ln/>
        </p:spPr>
        <p:txBody>
          <a:bodyPr wrap="square" lIns="0" tIns="0" rIns="0" bIns="0" rtlCol="0" anchor="ctr"/>
          <a:lstStyle/>
          <a:p>
            <a:pPr marL="0" indent="0">
              <a:buNone/>
            </a:pPr>
            <a:r>
              <a:rPr lang="en-US" sz="1150" dirty="0">
                <a:solidFill>
                  <a:srgbClr val="BFDCC9"/>
                </a:solidFill>
                <a:latin typeface="Calibri" pitchFamily="34" charset="0"/>
                <a:ea typeface="Calibri" pitchFamily="34" charset="-122"/>
                <a:cs typeface="Calibri" pitchFamily="34" charset="-120"/>
              </a:rPr>
              <a:t>of downtime is non-operator (process/system)</a:t>
            </a:r>
            <a:endParaRPr lang="en-US" sz="1150" dirty="0"/>
          </a:p>
        </p:txBody>
      </p:sp>
      <p:sp>
        <p:nvSpPr>
          <p:cNvPr id="14" name="Text 12"/>
          <p:cNvSpPr/>
          <p:nvPr/>
        </p:nvSpPr>
        <p:spPr>
          <a:xfrm>
            <a:off x="548640" y="3794760"/>
            <a:ext cx="5394960" cy="320040"/>
          </a:xfrm>
          <a:prstGeom prst="rect">
            <a:avLst/>
          </a:prstGeom>
          <a:noFill/>
          <a:ln/>
        </p:spPr>
        <p:txBody>
          <a:bodyPr wrap="square" lIns="0" tIns="0" rIns="0" bIns="0" rtlCol="0" anchor="ctr"/>
          <a:lstStyle/>
          <a:p>
            <a:pPr marL="0" indent="0">
              <a:buNone/>
            </a:pPr>
            <a:r>
              <a:rPr lang="en-US" sz="1300" b="1" kern="0" spc="150" dirty="0">
                <a:solidFill>
                  <a:srgbClr val="95D5B2"/>
                </a:solidFill>
                <a:latin typeface="Calibri" pitchFamily="34" charset="0"/>
                <a:ea typeface="Calibri" pitchFamily="34" charset="-122"/>
                <a:cs typeface="Calibri" pitchFamily="34" charset="-120"/>
              </a:rPr>
              <a:t>TOP FINDINGS</a:t>
            </a:r>
            <a:endParaRPr lang="en-US" sz="1300" dirty="0"/>
          </a:p>
        </p:txBody>
      </p:sp>
      <p:sp>
        <p:nvSpPr>
          <p:cNvPr id="15" name="Text 13"/>
          <p:cNvSpPr/>
          <p:nvPr/>
        </p:nvSpPr>
        <p:spPr>
          <a:xfrm>
            <a:off x="548640" y="4160520"/>
            <a:ext cx="5486400" cy="548640"/>
          </a:xfrm>
          <a:prstGeom prst="rect">
            <a:avLst/>
          </a:prstGeom>
          <a:noFill/>
          <a:ln/>
        </p:spPr>
        <p:txBody>
          <a:bodyPr wrap="square" lIns="0" tIns="0" rIns="0" bIns="0" rtlCol="0" anchor="ctr"/>
          <a:lstStyle/>
          <a:p>
            <a:pPr marL="0" indent="0">
              <a:buNone/>
            </a:pPr>
            <a:r>
              <a:rPr lang="en-US" sz="1200" dirty="0">
                <a:solidFill>
                  <a:srgbClr val="E5F0E9"/>
                </a:solidFill>
                <a:latin typeface="Calibri" pitchFamily="34" charset="0"/>
                <a:ea typeface="Calibri" pitchFamily="34" charset="-122"/>
                <a:cs typeface="Calibri" pitchFamily="34" charset="-120"/>
              </a:rPr>
              <a:t>•  Cleaning/sanitation, scheduling, and raw-material shortages drive most delays</a:t>
            </a:r>
            <a:endParaRPr lang="en-US" sz="1200" dirty="0"/>
          </a:p>
        </p:txBody>
      </p:sp>
      <p:sp>
        <p:nvSpPr>
          <p:cNvPr id="16" name="Text 14"/>
          <p:cNvSpPr/>
          <p:nvPr/>
        </p:nvSpPr>
        <p:spPr>
          <a:xfrm>
            <a:off x="548640" y="4764024"/>
            <a:ext cx="5486400" cy="548640"/>
          </a:xfrm>
          <a:prstGeom prst="rect">
            <a:avLst/>
          </a:prstGeom>
          <a:noFill/>
          <a:ln/>
        </p:spPr>
        <p:txBody>
          <a:bodyPr wrap="square" lIns="0" tIns="0" rIns="0" bIns="0" rtlCol="0" anchor="ctr"/>
          <a:lstStyle/>
          <a:p>
            <a:pPr marL="0" indent="0">
              <a:buNone/>
            </a:pPr>
            <a:r>
              <a:rPr lang="en-US" sz="1200" dirty="0">
                <a:solidFill>
                  <a:srgbClr val="E5F0E9"/>
                </a:solidFill>
                <a:latin typeface="Calibri" pitchFamily="34" charset="0"/>
                <a:ea typeface="Calibri" pitchFamily="34" charset="-122"/>
                <a:cs typeface="Calibri" pitchFamily="34" charset="-120"/>
              </a:rPr>
              <a:t>•  GreenFoam Hand Soap is the most disrupted product line</a:t>
            </a:r>
            <a:endParaRPr lang="en-US" sz="1200" dirty="0"/>
          </a:p>
        </p:txBody>
      </p:sp>
      <p:sp>
        <p:nvSpPr>
          <p:cNvPr id="17" name="Text 15"/>
          <p:cNvSpPr/>
          <p:nvPr/>
        </p:nvSpPr>
        <p:spPr>
          <a:xfrm>
            <a:off x="548640" y="5367528"/>
            <a:ext cx="5486400" cy="548640"/>
          </a:xfrm>
          <a:prstGeom prst="rect">
            <a:avLst/>
          </a:prstGeom>
          <a:noFill/>
          <a:ln/>
        </p:spPr>
        <p:txBody>
          <a:bodyPr wrap="square" lIns="0" tIns="0" rIns="0" bIns="0" rtlCol="0" anchor="ctr"/>
          <a:lstStyle/>
          <a:p>
            <a:pPr marL="0" indent="0">
              <a:buNone/>
            </a:pPr>
            <a:r>
              <a:rPr lang="en-US" sz="1200" dirty="0">
                <a:solidFill>
                  <a:srgbClr val="E5F0E9"/>
                </a:solidFill>
                <a:latin typeface="Calibri" pitchFamily="34" charset="0"/>
                <a:ea typeface="Calibri" pitchFamily="34" charset="-122"/>
                <a:cs typeface="Calibri" pitchFamily="34" charset="-120"/>
              </a:rPr>
              <a:t>•  51 days show operators double-booked across concurrent batches</a:t>
            </a:r>
            <a:endParaRPr lang="en-US" sz="1200" dirty="0"/>
          </a:p>
        </p:txBody>
      </p:sp>
      <p:sp>
        <p:nvSpPr>
          <p:cNvPr id="18" name="Text 16"/>
          <p:cNvSpPr/>
          <p:nvPr/>
        </p:nvSpPr>
        <p:spPr>
          <a:xfrm>
            <a:off x="6355080" y="3794760"/>
            <a:ext cx="5257800" cy="320040"/>
          </a:xfrm>
          <a:prstGeom prst="rect">
            <a:avLst/>
          </a:prstGeom>
          <a:noFill/>
          <a:ln/>
        </p:spPr>
        <p:txBody>
          <a:bodyPr wrap="square" lIns="0" tIns="0" rIns="0" bIns="0" rtlCol="0" anchor="ctr"/>
          <a:lstStyle/>
          <a:p>
            <a:pPr marL="0" indent="0">
              <a:buNone/>
            </a:pPr>
            <a:r>
              <a:rPr lang="en-US" sz="1300" b="1" kern="0" spc="150" dirty="0">
                <a:solidFill>
                  <a:srgbClr val="E3A63E"/>
                </a:solidFill>
                <a:latin typeface="Calibri" pitchFamily="34" charset="0"/>
                <a:ea typeface="Calibri" pitchFamily="34" charset="-122"/>
                <a:cs typeface="Calibri" pitchFamily="34" charset="-120"/>
              </a:rPr>
              <a:t>PRIORITY RECOMMENDATION</a:t>
            </a:r>
            <a:endParaRPr lang="en-US" sz="1300" dirty="0"/>
          </a:p>
        </p:txBody>
      </p:sp>
      <p:sp>
        <p:nvSpPr>
          <p:cNvPr id="19" name="Shape 17"/>
          <p:cNvSpPr/>
          <p:nvPr/>
        </p:nvSpPr>
        <p:spPr>
          <a:xfrm>
            <a:off x="6355080" y="4160520"/>
            <a:ext cx="5285232" cy="1874520"/>
          </a:xfrm>
          <a:prstGeom prst="roundRect">
            <a:avLst>
              <a:gd name="adj" fmla="val 3902"/>
            </a:avLst>
          </a:prstGeom>
          <a:solidFill>
            <a:srgbClr val="1B4332"/>
          </a:solidFill>
          <a:ln w="12700">
            <a:solidFill>
              <a:srgbClr val="E3A63E"/>
            </a:solidFill>
            <a:prstDash val="solid"/>
          </a:ln>
        </p:spPr>
      </p:sp>
      <p:sp>
        <p:nvSpPr>
          <p:cNvPr id="20" name="Text 18"/>
          <p:cNvSpPr/>
          <p:nvPr/>
        </p:nvSpPr>
        <p:spPr>
          <a:xfrm>
            <a:off x="6583680" y="4343400"/>
            <a:ext cx="4846320" cy="9144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Introduce preventive maintenance and real-time inventory alerts, paired with data-driven operator scheduling.</a:t>
            </a:r>
            <a:endParaRPr lang="en-US" sz="1300" dirty="0"/>
          </a:p>
        </p:txBody>
      </p:sp>
      <p:sp>
        <p:nvSpPr>
          <p:cNvPr id="21" name="Text 19"/>
          <p:cNvSpPr/>
          <p:nvPr/>
        </p:nvSpPr>
        <p:spPr>
          <a:xfrm>
            <a:off x="6583680" y="5193792"/>
            <a:ext cx="4846320" cy="685800"/>
          </a:xfrm>
          <a:prstGeom prst="rect">
            <a:avLst/>
          </a:prstGeom>
          <a:noFill/>
          <a:ln/>
        </p:spPr>
        <p:txBody>
          <a:bodyPr wrap="square" lIns="0" tIns="0" rIns="0" bIns="0" rtlCol="0" anchor="ctr"/>
          <a:lstStyle/>
          <a:p>
            <a:pPr marL="0" indent="0">
              <a:buNone/>
            </a:pPr>
            <a:r>
              <a:rPr lang="en-US" sz="1100" i="1" dirty="0">
                <a:solidFill>
                  <a:srgbClr val="BFDCC9"/>
                </a:solidFill>
                <a:latin typeface="Calibri" pitchFamily="34" charset="0"/>
                <a:ea typeface="Calibri" pitchFamily="34" charset="-122"/>
                <a:cs typeface="Calibri" pitchFamily="34" charset="-120"/>
              </a:rPr>
              <a:t>These three levers directly target the causes behind 21.74 lost production days.</a:t>
            </a:r>
            <a:endParaRPr lang="en-US" sz="110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BFDCC9"/>
                </a:solidFill>
                <a:latin typeface="Calibri" pitchFamily="34" charset="0"/>
                <a:ea typeface="Calibri" pitchFamily="34" charset="-122"/>
                <a:cs typeface="Calibri" pitchFamily="34" charset="-120"/>
              </a:rPr>
              <a:t>GreenTech Downtime Analysis Project</a:t>
            </a:r>
            <a:endParaRPr lang="en-US" sz="900" dirty="0"/>
          </a:p>
        </p:txBody>
      </p:sp>
      <p:sp>
        <p:nvSpPr>
          <p:cNvPr id="23"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DCC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BUSINESS CONTEXT</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Company Overview</a:t>
            </a:r>
            <a:endParaRPr lang="en-US" sz="3000" dirty="0"/>
          </a:p>
        </p:txBody>
      </p:sp>
      <p:sp>
        <p:nvSpPr>
          <p:cNvPr id="4" name="Shape 2"/>
          <p:cNvSpPr/>
          <p:nvPr/>
        </p:nvSpPr>
        <p:spPr>
          <a:xfrm>
            <a:off x="548640" y="1600200"/>
            <a:ext cx="6675120" cy="4480560"/>
          </a:xfrm>
          <a:prstGeom prst="roundRect">
            <a:avLst>
              <a:gd name="adj" fmla="val 1224"/>
            </a:avLst>
          </a:prstGeom>
          <a:solidFill>
            <a:srgbClr val="EAF4EE"/>
          </a:solidFill>
          <a:ln w="12700">
            <a:solidFill>
              <a:srgbClr val="C9DED2"/>
            </a:solidFill>
            <a:prstDash val="solid"/>
          </a:ln>
        </p:spPr>
      </p:sp>
      <p:sp>
        <p:nvSpPr>
          <p:cNvPr id="5" name="Text 3"/>
          <p:cNvSpPr/>
          <p:nvPr/>
        </p:nvSpPr>
        <p:spPr>
          <a:xfrm>
            <a:off x="868680" y="1874520"/>
            <a:ext cx="6035040" cy="411480"/>
          </a:xfrm>
          <a:prstGeom prst="rect">
            <a:avLst/>
          </a:prstGeom>
          <a:noFill/>
          <a:ln/>
        </p:spPr>
        <p:txBody>
          <a:bodyPr wrap="square" lIns="0" tIns="0" rIns="0" bIns="0" rtlCol="0" anchor="ctr"/>
          <a:lstStyle/>
          <a:p>
            <a:pPr marL="0" indent="0">
              <a:buNone/>
            </a:pPr>
            <a:r>
              <a:rPr lang="en-US" sz="1800" b="1" dirty="0">
                <a:solidFill>
                  <a:srgbClr val="1B4332"/>
                </a:solidFill>
                <a:latin typeface="Cambria" pitchFamily="34" charset="0"/>
                <a:ea typeface="Cambria" pitchFamily="34" charset="-122"/>
                <a:cs typeface="Cambria" pitchFamily="34" charset="-120"/>
              </a:rPr>
              <a:t>GreenTech Manufacturing</a:t>
            </a:r>
            <a:endParaRPr lang="en-US" sz="1800" dirty="0"/>
          </a:p>
        </p:txBody>
      </p:sp>
      <p:sp>
        <p:nvSpPr>
          <p:cNvPr id="6" name="Text 4"/>
          <p:cNvSpPr/>
          <p:nvPr/>
        </p:nvSpPr>
        <p:spPr>
          <a:xfrm>
            <a:off x="868680" y="2423160"/>
            <a:ext cx="6035040" cy="1005840"/>
          </a:xfrm>
          <a:prstGeom prst="rect">
            <a:avLst/>
          </a:prstGeom>
          <a:noFill/>
          <a:ln/>
        </p:spPr>
        <p:txBody>
          <a:bodyPr wrap="square" lIns="0" tIns="0" rIns="0" bIns="0" rtlCol="0" anchor="ctr"/>
          <a:lstStyle/>
          <a:p>
            <a:pPr marL="0" indent="0">
              <a:lnSpc>
                <a:spcPct val="115000"/>
              </a:lnSpc>
              <a:buNone/>
            </a:pPr>
            <a:r>
              <a:rPr lang="en-US" sz="1300" dirty="0">
                <a:solidFill>
                  <a:srgbClr val="1B2B22"/>
                </a:solidFill>
                <a:latin typeface="Calibri" pitchFamily="34" charset="0"/>
                <a:ea typeface="Calibri" pitchFamily="34" charset="-122"/>
                <a:cs typeface="Calibri" pitchFamily="34" charset="-120"/>
              </a:rPr>
              <a:t>GreenTech is a sustainable manufacturing company producing environmentally friendly household products, including cleaning supplies and recyclable packaging.</a:t>
            </a:r>
            <a:endParaRPr lang="en-US" sz="1300" dirty="0"/>
          </a:p>
        </p:txBody>
      </p:sp>
      <p:sp>
        <p:nvSpPr>
          <p:cNvPr id="7" name="Text 5"/>
          <p:cNvSpPr/>
          <p:nvPr/>
        </p:nvSpPr>
        <p:spPr>
          <a:xfrm>
            <a:off x="868680" y="3593592"/>
            <a:ext cx="6035040" cy="1005840"/>
          </a:xfrm>
          <a:prstGeom prst="rect">
            <a:avLst/>
          </a:prstGeom>
          <a:noFill/>
          <a:ln/>
        </p:spPr>
        <p:txBody>
          <a:bodyPr wrap="square" lIns="0" tIns="0" rIns="0" bIns="0" rtlCol="0" anchor="ctr"/>
          <a:lstStyle/>
          <a:p>
            <a:pPr marL="0" indent="0">
              <a:lnSpc>
                <a:spcPct val="115000"/>
              </a:lnSpc>
              <a:buNone/>
            </a:pPr>
            <a:r>
              <a:rPr lang="en-US" sz="1300" dirty="0">
                <a:solidFill>
                  <a:srgbClr val="1B2B22"/>
                </a:solidFill>
                <a:latin typeface="Calibri" pitchFamily="34" charset="0"/>
                <a:ea typeface="Calibri" pitchFamily="34" charset="-122"/>
                <a:cs typeface="Calibri" pitchFamily="34" charset="-120"/>
              </a:rPr>
              <a:t>Operations depend on efficient production scheduling and minimal downtime to protect profitability and customer satisfaction.</a:t>
            </a:r>
            <a:endParaRPr lang="en-US" sz="1300" dirty="0"/>
          </a:p>
        </p:txBody>
      </p:sp>
      <p:sp>
        <p:nvSpPr>
          <p:cNvPr id="8" name="Text 6"/>
          <p:cNvSpPr/>
          <p:nvPr/>
        </p:nvSpPr>
        <p:spPr>
          <a:xfrm>
            <a:off x="868680" y="4764024"/>
            <a:ext cx="6035040" cy="1005840"/>
          </a:xfrm>
          <a:prstGeom prst="rect">
            <a:avLst/>
          </a:prstGeom>
          <a:noFill/>
          <a:ln/>
        </p:spPr>
        <p:txBody>
          <a:bodyPr wrap="square" lIns="0" tIns="0" rIns="0" bIns="0" rtlCol="0" anchor="ctr"/>
          <a:lstStyle/>
          <a:p>
            <a:pPr marL="0" indent="0">
              <a:lnSpc>
                <a:spcPct val="115000"/>
              </a:lnSpc>
              <a:buNone/>
            </a:pPr>
            <a:r>
              <a:rPr lang="en-US" sz="1300" dirty="0">
                <a:solidFill>
                  <a:srgbClr val="1B2B22"/>
                </a:solidFill>
                <a:latin typeface="Calibri" pitchFamily="34" charset="0"/>
                <a:ea typeface="Calibri" pitchFamily="34" charset="-122"/>
                <a:cs typeface="Calibri" pitchFamily="34" charset="-120"/>
              </a:rPr>
              <a:t>The organization aims to balance ambitious sustainability goals with operational excellence — making downtime analysis a critical business function, not just a technical exercise.</a:t>
            </a:r>
            <a:endParaRPr lang="en-US" sz="1300" dirty="0"/>
          </a:p>
        </p:txBody>
      </p:sp>
      <p:sp>
        <p:nvSpPr>
          <p:cNvPr id="9" name="Text 7"/>
          <p:cNvSpPr/>
          <p:nvPr/>
        </p:nvSpPr>
        <p:spPr>
          <a:xfrm>
            <a:off x="7543800" y="1645920"/>
            <a:ext cx="4114800" cy="320040"/>
          </a:xfrm>
          <a:prstGeom prst="rect">
            <a:avLst/>
          </a:prstGeom>
          <a:noFill/>
          <a:ln/>
        </p:spPr>
        <p:txBody>
          <a:bodyPr wrap="square" lIns="0" tIns="0" rIns="0" bIns="0" rtlCol="0" anchor="ctr"/>
          <a:lstStyle/>
          <a:p>
            <a:pPr marL="0" indent="0">
              <a:buNone/>
            </a:pPr>
            <a:r>
              <a:rPr lang="en-US" sz="1200" b="1" kern="0" spc="150" dirty="0">
                <a:solidFill>
                  <a:srgbClr val="2D6A4F"/>
                </a:solidFill>
                <a:latin typeface="Calibri" pitchFamily="34" charset="0"/>
                <a:ea typeface="Calibri" pitchFamily="34" charset="-122"/>
                <a:cs typeface="Calibri" pitchFamily="34" charset="-120"/>
              </a:rPr>
              <a:t>CORE PRODUCT LINES</a:t>
            </a:r>
            <a:endParaRPr lang="en-US" sz="1200" dirty="0"/>
          </a:p>
        </p:txBody>
      </p:sp>
      <p:sp>
        <p:nvSpPr>
          <p:cNvPr id="10" name="Shape 8"/>
          <p:cNvSpPr/>
          <p:nvPr/>
        </p:nvSpPr>
        <p:spPr>
          <a:xfrm>
            <a:off x="7543800" y="2057400"/>
            <a:ext cx="4114800" cy="548640"/>
          </a:xfrm>
          <a:prstGeom prst="roundRect">
            <a:avLst>
              <a:gd name="adj" fmla="val 10000"/>
            </a:avLst>
          </a:prstGeom>
          <a:solidFill>
            <a:srgbClr val="FFFFFF"/>
          </a:solidFill>
          <a:ln w="12700">
            <a:solidFill>
              <a:srgbClr val="C9DED2"/>
            </a:solidFill>
            <a:prstDash val="solid"/>
          </a:ln>
        </p:spPr>
      </p:sp>
      <p:sp>
        <p:nvSpPr>
          <p:cNvPr id="11" name="Shape 9"/>
          <p:cNvSpPr/>
          <p:nvPr/>
        </p:nvSpPr>
        <p:spPr>
          <a:xfrm>
            <a:off x="7680960" y="2157984"/>
            <a:ext cx="347472" cy="347472"/>
          </a:xfrm>
          <a:prstGeom prst="ellipse">
            <a:avLst/>
          </a:prstGeom>
          <a:solidFill>
            <a:srgbClr val="DCEEE2"/>
          </a:solidFill>
          <a:ln/>
        </p:spPr>
      </p:sp>
      <p:pic>
        <p:nvPicPr>
          <p:cNvPr id="12" name="Image 0" descr="/home/claude/icons/leaf_mid.png"/>
          <p:cNvPicPr>
            <a:picLocks noChangeAspect="1"/>
          </p:cNvPicPr>
          <p:nvPr/>
        </p:nvPicPr>
        <p:blipFill>
          <a:blip r:embed="rId3"/>
          <a:stretch>
            <a:fillRect/>
          </a:stretch>
        </p:blipFill>
        <p:spPr>
          <a:xfrm>
            <a:off x="7767828" y="2244852"/>
            <a:ext cx="173736" cy="173736"/>
          </a:xfrm>
          <a:prstGeom prst="rect">
            <a:avLst/>
          </a:prstGeom>
        </p:spPr>
      </p:pic>
      <p:sp>
        <p:nvSpPr>
          <p:cNvPr id="13" name="Text 10"/>
          <p:cNvSpPr/>
          <p:nvPr/>
        </p:nvSpPr>
        <p:spPr>
          <a:xfrm>
            <a:off x="8138160" y="2057400"/>
            <a:ext cx="3429000" cy="548640"/>
          </a:xfrm>
          <a:prstGeom prst="rect">
            <a:avLst/>
          </a:prstGeom>
          <a:noFill/>
          <a:ln/>
        </p:spPr>
        <p:txBody>
          <a:bodyPr wrap="square" lIns="0" tIns="0" rIns="0" bIns="0" rtlCol="0" anchor="ctr"/>
          <a:lstStyle/>
          <a:p>
            <a:pPr marL="0" indent="0">
              <a:buNone/>
            </a:pPr>
            <a:r>
              <a:rPr lang="en-US" sz="1250" b="1" dirty="0">
                <a:solidFill>
                  <a:srgbClr val="1B2B22"/>
                </a:solidFill>
                <a:latin typeface="Calibri" pitchFamily="34" charset="0"/>
                <a:ea typeface="Calibri" pitchFamily="34" charset="-122"/>
                <a:cs typeface="Calibri" pitchFamily="34" charset="-120"/>
              </a:rPr>
              <a:t>GreenFoam Hand Soap</a:t>
            </a:r>
            <a:endParaRPr lang="en-US" sz="1250" dirty="0"/>
          </a:p>
        </p:txBody>
      </p:sp>
      <p:sp>
        <p:nvSpPr>
          <p:cNvPr id="14" name="Shape 11"/>
          <p:cNvSpPr/>
          <p:nvPr/>
        </p:nvSpPr>
        <p:spPr>
          <a:xfrm>
            <a:off x="7543800" y="2743200"/>
            <a:ext cx="4114800" cy="548640"/>
          </a:xfrm>
          <a:prstGeom prst="roundRect">
            <a:avLst>
              <a:gd name="adj" fmla="val 10000"/>
            </a:avLst>
          </a:prstGeom>
          <a:solidFill>
            <a:srgbClr val="FFFFFF"/>
          </a:solidFill>
          <a:ln w="12700">
            <a:solidFill>
              <a:srgbClr val="C9DED2"/>
            </a:solidFill>
            <a:prstDash val="solid"/>
          </a:ln>
        </p:spPr>
      </p:sp>
      <p:sp>
        <p:nvSpPr>
          <p:cNvPr id="15" name="Shape 12"/>
          <p:cNvSpPr/>
          <p:nvPr/>
        </p:nvSpPr>
        <p:spPr>
          <a:xfrm>
            <a:off x="7680960" y="2843784"/>
            <a:ext cx="347472" cy="347472"/>
          </a:xfrm>
          <a:prstGeom prst="ellipse">
            <a:avLst/>
          </a:prstGeom>
          <a:solidFill>
            <a:srgbClr val="DCEEE2"/>
          </a:solidFill>
          <a:ln/>
        </p:spPr>
      </p:sp>
      <p:pic>
        <p:nvPicPr>
          <p:cNvPr id="16" name="Image 1" descr="/home/claude/icons/leaf_mid.png"/>
          <p:cNvPicPr>
            <a:picLocks noChangeAspect="1"/>
          </p:cNvPicPr>
          <p:nvPr/>
        </p:nvPicPr>
        <p:blipFill>
          <a:blip r:embed="rId3"/>
          <a:stretch>
            <a:fillRect/>
          </a:stretch>
        </p:blipFill>
        <p:spPr>
          <a:xfrm>
            <a:off x="7767828" y="2930652"/>
            <a:ext cx="173736" cy="173736"/>
          </a:xfrm>
          <a:prstGeom prst="rect">
            <a:avLst/>
          </a:prstGeom>
        </p:spPr>
      </p:pic>
      <p:sp>
        <p:nvSpPr>
          <p:cNvPr id="17" name="Text 13"/>
          <p:cNvSpPr/>
          <p:nvPr/>
        </p:nvSpPr>
        <p:spPr>
          <a:xfrm>
            <a:off x="8138160" y="2743200"/>
            <a:ext cx="3429000" cy="548640"/>
          </a:xfrm>
          <a:prstGeom prst="rect">
            <a:avLst/>
          </a:prstGeom>
          <a:noFill/>
          <a:ln/>
        </p:spPr>
        <p:txBody>
          <a:bodyPr wrap="square" lIns="0" tIns="0" rIns="0" bIns="0" rtlCol="0" anchor="ctr"/>
          <a:lstStyle/>
          <a:p>
            <a:pPr marL="0" indent="0">
              <a:buNone/>
            </a:pPr>
            <a:r>
              <a:rPr lang="en-US" sz="1250" b="1" dirty="0">
                <a:solidFill>
                  <a:srgbClr val="1B2B22"/>
                </a:solidFill>
                <a:latin typeface="Calibri" pitchFamily="34" charset="0"/>
                <a:ea typeface="Calibri" pitchFamily="34" charset="-122"/>
                <a:cs typeface="Calibri" pitchFamily="34" charset="-120"/>
              </a:rPr>
              <a:t>BioWipe Cleaning Sheets</a:t>
            </a:r>
            <a:endParaRPr lang="en-US" sz="1250" dirty="0"/>
          </a:p>
        </p:txBody>
      </p:sp>
      <p:sp>
        <p:nvSpPr>
          <p:cNvPr id="18" name="Shape 14"/>
          <p:cNvSpPr/>
          <p:nvPr/>
        </p:nvSpPr>
        <p:spPr>
          <a:xfrm>
            <a:off x="7543800" y="3429000"/>
            <a:ext cx="4114800" cy="548640"/>
          </a:xfrm>
          <a:prstGeom prst="roundRect">
            <a:avLst>
              <a:gd name="adj" fmla="val 10000"/>
            </a:avLst>
          </a:prstGeom>
          <a:solidFill>
            <a:srgbClr val="FFFFFF"/>
          </a:solidFill>
          <a:ln w="12700">
            <a:solidFill>
              <a:srgbClr val="C9DED2"/>
            </a:solidFill>
            <a:prstDash val="solid"/>
          </a:ln>
        </p:spPr>
      </p:sp>
      <p:sp>
        <p:nvSpPr>
          <p:cNvPr id="19" name="Shape 15"/>
          <p:cNvSpPr/>
          <p:nvPr/>
        </p:nvSpPr>
        <p:spPr>
          <a:xfrm>
            <a:off x="7680960" y="3529584"/>
            <a:ext cx="347472" cy="347472"/>
          </a:xfrm>
          <a:prstGeom prst="ellipse">
            <a:avLst/>
          </a:prstGeom>
          <a:solidFill>
            <a:srgbClr val="DCEEE2"/>
          </a:solidFill>
          <a:ln/>
        </p:spPr>
      </p:sp>
      <p:pic>
        <p:nvPicPr>
          <p:cNvPr id="20" name="Image 2" descr="/home/claude/icons/leaf_mid.png"/>
          <p:cNvPicPr>
            <a:picLocks noChangeAspect="1"/>
          </p:cNvPicPr>
          <p:nvPr/>
        </p:nvPicPr>
        <p:blipFill>
          <a:blip r:embed="rId3"/>
          <a:stretch>
            <a:fillRect/>
          </a:stretch>
        </p:blipFill>
        <p:spPr>
          <a:xfrm>
            <a:off x="7767828" y="3616452"/>
            <a:ext cx="173736" cy="173736"/>
          </a:xfrm>
          <a:prstGeom prst="rect">
            <a:avLst/>
          </a:prstGeom>
        </p:spPr>
      </p:pic>
      <p:sp>
        <p:nvSpPr>
          <p:cNvPr id="21" name="Text 16"/>
          <p:cNvSpPr/>
          <p:nvPr/>
        </p:nvSpPr>
        <p:spPr>
          <a:xfrm>
            <a:off x="8138160" y="3429000"/>
            <a:ext cx="3429000" cy="548640"/>
          </a:xfrm>
          <a:prstGeom prst="rect">
            <a:avLst/>
          </a:prstGeom>
          <a:noFill/>
          <a:ln/>
        </p:spPr>
        <p:txBody>
          <a:bodyPr wrap="square" lIns="0" tIns="0" rIns="0" bIns="0" rtlCol="0" anchor="ctr"/>
          <a:lstStyle/>
          <a:p>
            <a:pPr marL="0" indent="0">
              <a:buNone/>
            </a:pPr>
            <a:r>
              <a:rPr lang="en-US" sz="1250" b="1" dirty="0">
                <a:solidFill>
                  <a:srgbClr val="1B2B22"/>
                </a:solidFill>
                <a:latin typeface="Calibri" pitchFamily="34" charset="0"/>
                <a:ea typeface="Calibri" pitchFamily="34" charset="-122"/>
                <a:cs typeface="Calibri" pitchFamily="34" charset="-120"/>
              </a:rPr>
              <a:t>EcoWash Liquid Detergent</a:t>
            </a:r>
            <a:endParaRPr lang="en-US" sz="1250" dirty="0"/>
          </a:p>
        </p:txBody>
      </p:sp>
      <p:sp>
        <p:nvSpPr>
          <p:cNvPr id="22" name="Shape 17"/>
          <p:cNvSpPr/>
          <p:nvPr/>
        </p:nvSpPr>
        <p:spPr>
          <a:xfrm>
            <a:off x="7543800" y="4114800"/>
            <a:ext cx="4114800" cy="548640"/>
          </a:xfrm>
          <a:prstGeom prst="roundRect">
            <a:avLst>
              <a:gd name="adj" fmla="val 10000"/>
            </a:avLst>
          </a:prstGeom>
          <a:solidFill>
            <a:srgbClr val="FFFFFF"/>
          </a:solidFill>
          <a:ln w="12700">
            <a:solidFill>
              <a:srgbClr val="C9DED2"/>
            </a:solidFill>
            <a:prstDash val="solid"/>
          </a:ln>
        </p:spPr>
      </p:sp>
      <p:sp>
        <p:nvSpPr>
          <p:cNvPr id="23" name="Shape 18"/>
          <p:cNvSpPr/>
          <p:nvPr/>
        </p:nvSpPr>
        <p:spPr>
          <a:xfrm>
            <a:off x="7680960" y="4215384"/>
            <a:ext cx="347472" cy="347472"/>
          </a:xfrm>
          <a:prstGeom prst="ellipse">
            <a:avLst/>
          </a:prstGeom>
          <a:solidFill>
            <a:srgbClr val="DCEEE2"/>
          </a:solidFill>
          <a:ln/>
        </p:spPr>
      </p:sp>
      <p:pic>
        <p:nvPicPr>
          <p:cNvPr id="24" name="Image 3" descr="/home/claude/icons/leaf_mid.png"/>
          <p:cNvPicPr>
            <a:picLocks noChangeAspect="1"/>
          </p:cNvPicPr>
          <p:nvPr/>
        </p:nvPicPr>
        <p:blipFill>
          <a:blip r:embed="rId3"/>
          <a:stretch>
            <a:fillRect/>
          </a:stretch>
        </p:blipFill>
        <p:spPr>
          <a:xfrm>
            <a:off x="7767828" y="4302252"/>
            <a:ext cx="173736" cy="173736"/>
          </a:xfrm>
          <a:prstGeom prst="rect">
            <a:avLst/>
          </a:prstGeom>
        </p:spPr>
      </p:pic>
      <p:sp>
        <p:nvSpPr>
          <p:cNvPr id="25" name="Text 19"/>
          <p:cNvSpPr/>
          <p:nvPr/>
        </p:nvSpPr>
        <p:spPr>
          <a:xfrm>
            <a:off x="8138160" y="4114800"/>
            <a:ext cx="3429000" cy="548640"/>
          </a:xfrm>
          <a:prstGeom prst="rect">
            <a:avLst/>
          </a:prstGeom>
          <a:noFill/>
          <a:ln/>
        </p:spPr>
        <p:txBody>
          <a:bodyPr wrap="square" lIns="0" tIns="0" rIns="0" bIns="0" rtlCol="0" anchor="ctr"/>
          <a:lstStyle/>
          <a:p>
            <a:pPr marL="0" indent="0">
              <a:buNone/>
            </a:pPr>
            <a:r>
              <a:rPr lang="en-US" sz="1250" b="1" dirty="0">
                <a:solidFill>
                  <a:srgbClr val="1B2B22"/>
                </a:solidFill>
                <a:latin typeface="Calibri" pitchFamily="34" charset="0"/>
                <a:ea typeface="Calibri" pitchFamily="34" charset="-122"/>
                <a:cs typeface="Calibri" pitchFamily="34" charset="-120"/>
              </a:rPr>
              <a:t>RePack Recycled Packaging Film</a:t>
            </a:r>
            <a:endParaRPr lang="en-US" sz="1250" dirty="0"/>
          </a:p>
        </p:txBody>
      </p:sp>
      <p:sp>
        <p:nvSpPr>
          <p:cNvPr id="26"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27"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Business Challenges</a:t>
            </a:r>
            <a:endParaRPr lang="en-US" sz="3000" dirty="0"/>
          </a:p>
        </p:txBody>
      </p:sp>
      <p:sp>
        <p:nvSpPr>
          <p:cNvPr id="4" name="Shape 2"/>
          <p:cNvSpPr/>
          <p:nvPr/>
        </p:nvSpPr>
        <p:spPr>
          <a:xfrm>
            <a:off x="548640" y="1691640"/>
            <a:ext cx="3611880" cy="4206240"/>
          </a:xfrm>
          <a:prstGeom prst="roundRect">
            <a:avLst>
              <a:gd name="adj" fmla="val 1772"/>
            </a:avLst>
          </a:prstGeom>
          <a:solidFill>
            <a:srgbClr val="FFFFFF"/>
          </a:solidFill>
          <a:ln w="12700">
            <a:solidFill>
              <a:srgbClr val="C9DED2"/>
            </a:solidFill>
            <a:prstDash val="solid"/>
          </a:ln>
        </p:spPr>
      </p:sp>
      <p:sp>
        <p:nvSpPr>
          <p:cNvPr id="5" name="Shape 3"/>
          <p:cNvSpPr/>
          <p:nvPr/>
        </p:nvSpPr>
        <p:spPr>
          <a:xfrm>
            <a:off x="548640" y="1691640"/>
            <a:ext cx="3611880" cy="91440"/>
          </a:xfrm>
          <a:prstGeom prst="rect">
            <a:avLst/>
          </a:prstGeom>
          <a:solidFill>
            <a:srgbClr val="E3A63E"/>
          </a:solidFill>
          <a:ln/>
        </p:spPr>
      </p:sp>
      <p:sp>
        <p:nvSpPr>
          <p:cNvPr id="6" name="Shape 4"/>
          <p:cNvSpPr/>
          <p:nvPr/>
        </p:nvSpPr>
        <p:spPr>
          <a:xfrm>
            <a:off x="868680" y="2057400"/>
            <a:ext cx="777240" cy="777240"/>
          </a:xfrm>
          <a:prstGeom prst="ellipse">
            <a:avLst/>
          </a:prstGeom>
          <a:solidFill>
            <a:srgbClr val="DCEEE2"/>
          </a:solidFill>
          <a:ln/>
        </p:spPr>
      </p:sp>
      <p:pic>
        <p:nvPicPr>
          <p:cNvPr id="7" name="Image 0" descr="/home/claude/icons/warning_mid.png"/>
          <p:cNvPicPr>
            <a:picLocks noChangeAspect="1"/>
          </p:cNvPicPr>
          <p:nvPr/>
        </p:nvPicPr>
        <p:blipFill>
          <a:blip r:embed="rId3"/>
          <a:stretch>
            <a:fillRect/>
          </a:stretch>
        </p:blipFill>
        <p:spPr>
          <a:xfrm>
            <a:off x="1062990" y="2251710"/>
            <a:ext cx="388620" cy="388620"/>
          </a:xfrm>
          <a:prstGeom prst="rect">
            <a:avLst/>
          </a:prstGeom>
        </p:spPr>
      </p:pic>
      <p:sp>
        <p:nvSpPr>
          <p:cNvPr id="8" name="Text 5"/>
          <p:cNvSpPr/>
          <p:nvPr/>
        </p:nvSpPr>
        <p:spPr>
          <a:xfrm>
            <a:off x="822960" y="3017520"/>
            <a:ext cx="3063240" cy="77724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56% of Batches Delayed</a:t>
            </a:r>
            <a:endParaRPr lang="en-US" sz="1600" dirty="0"/>
          </a:p>
        </p:txBody>
      </p:sp>
      <p:sp>
        <p:nvSpPr>
          <p:cNvPr id="9" name="Text 6"/>
          <p:cNvSpPr/>
          <p:nvPr/>
        </p:nvSpPr>
        <p:spPr>
          <a:xfrm>
            <a:off x="822960" y="3840480"/>
            <a:ext cx="3063240" cy="1920240"/>
          </a:xfrm>
          <a:prstGeom prst="rect">
            <a:avLst/>
          </a:prstGeom>
          <a:noFill/>
          <a:ln/>
        </p:spPr>
        <p:txBody>
          <a:bodyPr wrap="square" lIns="0" tIns="0" rIns="0" bIns="0" rtlCol="0" anchor="ctr"/>
          <a:lstStyle/>
          <a:p>
            <a:pPr marL="0" indent="0">
              <a:lnSpc>
                <a:spcPct val="120000"/>
              </a:lnSpc>
              <a:buNone/>
            </a:pPr>
            <a:r>
              <a:rPr lang="en-US" sz="1200" dirty="0">
                <a:solidFill>
                  <a:srgbClr val="1B2B22"/>
                </a:solidFill>
                <a:latin typeface="Calibri" pitchFamily="34" charset="0"/>
                <a:ea typeface="Calibri" pitchFamily="34" charset="-122"/>
                <a:cs typeface="Calibri" pitchFamily="34" charset="-120"/>
              </a:rPr>
              <a:t>Over half of all production batches experienced disruption during the reporting period — a scale too large to ignore.</a:t>
            </a:r>
            <a:endParaRPr lang="en-US" sz="1200" dirty="0"/>
          </a:p>
        </p:txBody>
      </p:sp>
      <p:sp>
        <p:nvSpPr>
          <p:cNvPr id="10" name="Shape 7"/>
          <p:cNvSpPr/>
          <p:nvPr/>
        </p:nvSpPr>
        <p:spPr>
          <a:xfrm>
            <a:off x="4379976" y="1691640"/>
            <a:ext cx="3611880" cy="4206240"/>
          </a:xfrm>
          <a:prstGeom prst="roundRect">
            <a:avLst>
              <a:gd name="adj" fmla="val 1772"/>
            </a:avLst>
          </a:prstGeom>
          <a:solidFill>
            <a:srgbClr val="FFFFFF"/>
          </a:solidFill>
          <a:ln w="12700">
            <a:solidFill>
              <a:srgbClr val="C9DED2"/>
            </a:solidFill>
            <a:prstDash val="solid"/>
          </a:ln>
        </p:spPr>
      </p:sp>
      <p:sp>
        <p:nvSpPr>
          <p:cNvPr id="11" name="Shape 8"/>
          <p:cNvSpPr/>
          <p:nvPr/>
        </p:nvSpPr>
        <p:spPr>
          <a:xfrm>
            <a:off x="4379976" y="1691640"/>
            <a:ext cx="3611880" cy="91440"/>
          </a:xfrm>
          <a:prstGeom prst="rect">
            <a:avLst/>
          </a:prstGeom>
          <a:solidFill>
            <a:srgbClr val="E3A63E"/>
          </a:solidFill>
          <a:ln/>
        </p:spPr>
      </p:sp>
      <p:sp>
        <p:nvSpPr>
          <p:cNvPr id="12" name="Shape 9"/>
          <p:cNvSpPr/>
          <p:nvPr/>
        </p:nvSpPr>
        <p:spPr>
          <a:xfrm>
            <a:off x="4700016" y="2057400"/>
            <a:ext cx="777240" cy="777240"/>
          </a:xfrm>
          <a:prstGeom prst="ellipse">
            <a:avLst/>
          </a:prstGeom>
          <a:solidFill>
            <a:srgbClr val="DCEEE2"/>
          </a:solidFill>
          <a:ln/>
        </p:spPr>
      </p:sp>
      <p:pic>
        <p:nvPicPr>
          <p:cNvPr id="13" name="Image 1" descr="/home/claude/icons/gear_mid.png"/>
          <p:cNvPicPr>
            <a:picLocks noChangeAspect="1"/>
          </p:cNvPicPr>
          <p:nvPr/>
        </p:nvPicPr>
        <p:blipFill>
          <a:blip r:embed="rId4"/>
          <a:stretch>
            <a:fillRect/>
          </a:stretch>
        </p:blipFill>
        <p:spPr>
          <a:xfrm>
            <a:off x="4894326" y="2251710"/>
            <a:ext cx="388620" cy="388620"/>
          </a:xfrm>
          <a:prstGeom prst="rect">
            <a:avLst/>
          </a:prstGeom>
        </p:spPr>
      </p:pic>
      <p:sp>
        <p:nvSpPr>
          <p:cNvPr id="14" name="Text 10"/>
          <p:cNvSpPr/>
          <p:nvPr/>
        </p:nvSpPr>
        <p:spPr>
          <a:xfrm>
            <a:off x="4654296" y="3017520"/>
            <a:ext cx="3063240" cy="77724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Recurring Operational Issues</a:t>
            </a:r>
            <a:endParaRPr lang="en-US" sz="1600" dirty="0"/>
          </a:p>
        </p:txBody>
      </p:sp>
      <p:sp>
        <p:nvSpPr>
          <p:cNvPr id="15" name="Text 11"/>
          <p:cNvSpPr/>
          <p:nvPr/>
        </p:nvSpPr>
        <p:spPr>
          <a:xfrm>
            <a:off x="4654296" y="3840480"/>
            <a:ext cx="3063240" cy="1920240"/>
          </a:xfrm>
          <a:prstGeom prst="rect">
            <a:avLst/>
          </a:prstGeom>
          <a:noFill/>
          <a:ln/>
        </p:spPr>
        <p:txBody>
          <a:bodyPr wrap="square" lIns="0" tIns="0" rIns="0" bIns="0" rtlCol="0" anchor="ctr"/>
          <a:lstStyle/>
          <a:p>
            <a:pPr marL="0" indent="0">
              <a:lnSpc>
                <a:spcPct val="120000"/>
              </a:lnSpc>
              <a:buNone/>
            </a:pPr>
            <a:r>
              <a:rPr lang="en-US" sz="1200" dirty="0">
                <a:solidFill>
                  <a:srgbClr val="1B2B22"/>
                </a:solidFill>
                <a:latin typeface="Calibri" pitchFamily="34" charset="0"/>
                <a:ea typeface="Calibri" pitchFamily="34" charset="-122"/>
                <a:cs typeface="Calibri" pitchFamily="34" charset="-120"/>
              </a:rPr>
              <a:t>Machine breakdowns, cleaning requirements, raw-material shortages, and scheduling conflicts repeatedly reduced production efficiency.</a:t>
            </a:r>
            <a:endParaRPr lang="en-US" sz="1200" dirty="0"/>
          </a:p>
        </p:txBody>
      </p:sp>
      <p:sp>
        <p:nvSpPr>
          <p:cNvPr id="16" name="Shape 12"/>
          <p:cNvSpPr/>
          <p:nvPr/>
        </p:nvSpPr>
        <p:spPr>
          <a:xfrm>
            <a:off x="8211312" y="1691640"/>
            <a:ext cx="3611880" cy="4206240"/>
          </a:xfrm>
          <a:prstGeom prst="roundRect">
            <a:avLst>
              <a:gd name="adj" fmla="val 1772"/>
            </a:avLst>
          </a:prstGeom>
          <a:solidFill>
            <a:srgbClr val="FFFFFF"/>
          </a:solidFill>
          <a:ln w="12700">
            <a:solidFill>
              <a:srgbClr val="C9DED2"/>
            </a:solidFill>
            <a:prstDash val="solid"/>
          </a:ln>
        </p:spPr>
      </p:sp>
      <p:sp>
        <p:nvSpPr>
          <p:cNvPr id="17" name="Shape 13"/>
          <p:cNvSpPr/>
          <p:nvPr/>
        </p:nvSpPr>
        <p:spPr>
          <a:xfrm>
            <a:off x="8211312" y="1691640"/>
            <a:ext cx="3611880" cy="91440"/>
          </a:xfrm>
          <a:prstGeom prst="rect">
            <a:avLst/>
          </a:prstGeom>
          <a:solidFill>
            <a:srgbClr val="E3A63E"/>
          </a:solidFill>
          <a:ln/>
        </p:spPr>
      </p:sp>
      <p:sp>
        <p:nvSpPr>
          <p:cNvPr id="18" name="Shape 14"/>
          <p:cNvSpPr/>
          <p:nvPr/>
        </p:nvSpPr>
        <p:spPr>
          <a:xfrm>
            <a:off x="8531352" y="2057400"/>
            <a:ext cx="777240" cy="777240"/>
          </a:xfrm>
          <a:prstGeom prst="ellipse">
            <a:avLst/>
          </a:prstGeom>
          <a:solidFill>
            <a:srgbClr val="DCEEE2"/>
          </a:solidFill>
          <a:ln/>
        </p:spPr>
      </p:sp>
      <p:pic>
        <p:nvPicPr>
          <p:cNvPr id="19" name="Image 2" descr="/home/claude/icons/filter_mid.png"/>
          <p:cNvPicPr>
            <a:picLocks noChangeAspect="1"/>
          </p:cNvPicPr>
          <p:nvPr/>
        </p:nvPicPr>
        <p:blipFill>
          <a:blip r:embed="rId5"/>
          <a:stretch>
            <a:fillRect/>
          </a:stretch>
        </p:blipFill>
        <p:spPr>
          <a:xfrm>
            <a:off x="8725662" y="2251710"/>
            <a:ext cx="388620" cy="388620"/>
          </a:xfrm>
          <a:prstGeom prst="rect">
            <a:avLst/>
          </a:prstGeom>
        </p:spPr>
      </p:pic>
      <p:sp>
        <p:nvSpPr>
          <p:cNvPr id="20" name="Text 15"/>
          <p:cNvSpPr/>
          <p:nvPr/>
        </p:nvSpPr>
        <p:spPr>
          <a:xfrm>
            <a:off x="8485632" y="3017520"/>
            <a:ext cx="3063240" cy="777240"/>
          </a:xfrm>
          <a:prstGeom prst="rect">
            <a:avLst/>
          </a:prstGeom>
          <a:noFill/>
          <a:ln/>
        </p:spPr>
        <p:txBody>
          <a:bodyPr wrap="square" lIns="0" tIns="0" rIns="0" bIns="0"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No Centralized Visibility</a:t>
            </a:r>
            <a:endParaRPr lang="en-US" sz="1600" dirty="0"/>
          </a:p>
        </p:txBody>
      </p:sp>
      <p:sp>
        <p:nvSpPr>
          <p:cNvPr id="21" name="Text 16"/>
          <p:cNvSpPr/>
          <p:nvPr/>
        </p:nvSpPr>
        <p:spPr>
          <a:xfrm>
            <a:off x="8485632" y="3840480"/>
            <a:ext cx="3063240" cy="1920240"/>
          </a:xfrm>
          <a:prstGeom prst="rect">
            <a:avLst/>
          </a:prstGeom>
          <a:noFill/>
          <a:ln/>
        </p:spPr>
        <p:txBody>
          <a:bodyPr wrap="square" lIns="0" tIns="0" rIns="0" bIns="0" rtlCol="0" anchor="ctr"/>
          <a:lstStyle/>
          <a:p>
            <a:pPr marL="0" indent="0">
              <a:lnSpc>
                <a:spcPct val="120000"/>
              </a:lnSpc>
              <a:buNone/>
            </a:pPr>
            <a:r>
              <a:rPr lang="en-US" sz="1200" dirty="0">
                <a:solidFill>
                  <a:srgbClr val="1B2B22"/>
                </a:solidFill>
                <a:latin typeface="Calibri" pitchFamily="34" charset="0"/>
                <a:ea typeface="Calibri" pitchFamily="34" charset="-122"/>
                <a:cs typeface="Calibri" pitchFamily="34" charset="-120"/>
              </a:rPr>
              <a:t>Management lacked a single, unified view of downtime patterns — making it difficult to target interventions where they would matter most.</a:t>
            </a:r>
            <a:endParaRPr lang="en-US" sz="1200" dirty="0"/>
          </a:p>
        </p:txBody>
      </p:sp>
      <p:sp>
        <p:nvSpPr>
          <p:cNvPr id="22"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23"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PURPOSE</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91640"/>
            <a:ext cx="5303520" cy="4160520"/>
          </a:xfrm>
          <a:prstGeom prst="roundRect">
            <a:avLst>
              <a:gd name="adj" fmla="val 1538"/>
            </a:avLst>
          </a:prstGeom>
          <a:solidFill>
            <a:srgbClr val="1B4332"/>
          </a:solidFill>
          <a:ln/>
        </p:spPr>
      </p:sp>
      <p:sp>
        <p:nvSpPr>
          <p:cNvPr id="5" name="Shape 3"/>
          <p:cNvSpPr/>
          <p:nvPr/>
        </p:nvSpPr>
        <p:spPr>
          <a:xfrm>
            <a:off x="914400" y="2011680"/>
            <a:ext cx="685800" cy="685800"/>
          </a:xfrm>
          <a:prstGeom prst="ellipse">
            <a:avLst/>
          </a:prstGeom>
          <a:solidFill>
            <a:srgbClr val="2D6A4F"/>
          </a:solidFill>
          <a:ln/>
        </p:spPr>
      </p:sp>
      <p:pic>
        <p:nvPicPr>
          <p:cNvPr id="6" name="Image 0" descr="/home/claude/icons/bullseye_white.png"/>
          <p:cNvPicPr>
            <a:picLocks noChangeAspect="1"/>
          </p:cNvPicPr>
          <p:nvPr/>
        </p:nvPicPr>
        <p:blipFill>
          <a:blip r:embed="rId3"/>
          <a:stretch>
            <a:fillRect/>
          </a:stretch>
        </p:blipFill>
        <p:spPr>
          <a:xfrm>
            <a:off x="1085850" y="2183130"/>
            <a:ext cx="342900" cy="342900"/>
          </a:xfrm>
          <a:prstGeom prst="rect">
            <a:avLst/>
          </a:prstGeom>
        </p:spPr>
      </p:pic>
      <p:sp>
        <p:nvSpPr>
          <p:cNvPr id="7" name="Text 4"/>
          <p:cNvSpPr/>
          <p:nvPr/>
        </p:nvSpPr>
        <p:spPr>
          <a:xfrm>
            <a:off x="1783080" y="2084832"/>
            <a:ext cx="3840480" cy="320040"/>
          </a:xfrm>
          <a:prstGeom prst="rect">
            <a:avLst/>
          </a:prstGeom>
          <a:noFill/>
          <a:ln/>
        </p:spPr>
        <p:txBody>
          <a:bodyPr wrap="square" lIns="0" tIns="0" rIns="0" bIns="0" rtlCol="0" anchor="ctr"/>
          <a:lstStyle/>
          <a:p>
            <a:pPr marL="0" indent="0">
              <a:buNone/>
            </a:pPr>
            <a:r>
              <a:rPr lang="en-US" sz="1200" b="1" kern="0" spc="150" dirty="0">
                <a:solidFill>
                  <a:srgbClr val="95D5B2"/>
                </a:solidFill>
                <a:latin typeface="Calibri" pitchFamily="34" charset="0"/>
                <a:ea typeface="Calibri" pitchFamily="34" charset="-122"/>
                <a:cs typeface="Calibri" pitchFamily="34" charset="-120"/>
              </a:rPr>
              <a:t>PRIMARY OBJECTIVE</a:t>
            </a:r>
            <a:endParaRPr lang="en-US" sz="1200" dirty="0"/>
          </a:p>
        </p:txBody>
      </p:sp>
      <p:sp>
        <p:nvSpPr>
          <p:cNvPr id="8" name="Text 5"/>
          <p:cNvSpPr/>
          <p:nvPr/>
        </p:nvSpPr>
        <p:spPr>
          <a:xfrm>
            <a:off x="914400" y="2880360"/>
            <a:ext cx="4617720" cy="1463040"/>
          </a:xfrm>
          <a:prstGeom prst="rect">
            <a:avLst/>
          </a:prstGeom>
          <a:noFill/>
          <a:ln/>
        </p:spPr>
        <p:txBody>
          <a:bodyPr wrap="square" lIns="0" tIns="0" rIns="0" bIns="0" rtlCol="0" anchor="ctr"/>
          <a:lstStyle/>
          <a:p>
            <a:pPr marL="0" indent="0">
              <a:lnSpc>
                <a:spcPct val="115000"/>
              </a:lnSpc>
              <a:buNone/>
            </a:pPr>
            <a:r>
              <a:rPr lang="en-US" sz="1700" b="1" dirty="0">
                <a:solidFill>
                  <a:srgbClr val="FFFFFF"/>
                </a:solidFill>
                <a:latin typeface="Cambria" pitchFamily="34" charset="0"/>
                <a:ea typeface="Cambria" pitchFamily="34" charset="-122"/>
                <a:cs typeface="Cambria" pitchFamily="34" charset="-120"/>
              </a:rPr>
              <a:t>Identify the root causes of production delays and evaluate their impact on productivity.</a:t>
            </a:r>
            <a:endParaRPr lang="en-US" sz="1700" dirty="0"/>
          </a:p>
        </p:txBody>
      </p:sp>
      <p:sp>
        <p:nvSpPr>
          <p:cNvPr id="9" name="Text 6"/>
          <p:cNvSpPr/>
          <p:nvPr/>
        </p:nvSpPr>
        <p:spPr>
          <a:xfrm>
            <a:off x="914400" y="4526280"/>
            <a:ext cx="4617720" cy="1097280"/>
          </a:xfrm>
          <a:prstGeom prst="rect">
            <a:avLst/>
          </a:prstGeom>
          <a:noFill/>
          <a:ln/>
        </p:spPr>
        <p:txBody>
          <a:bodyPr wrap="square" lIns="0" tIns="0" rIns="0" bIns="0" rtlCol="0" anchor="ctr"/>
          <a:lstStyle/>
          <a:p>
            <a:pPr marL="0" indent="0">
              <a:buNone/>
            </a:pPr>
            <a:r>
              <a:rPr lang="en-US" sz="1200" i="1" dirty="0">
                <a:solidFill>
                  <a:srgbClr val="BFDCC9"/>
                </a:solidFill>
                <a:latin typeface="Calibri" pitchFamily="34" charset="0"/>
                <a:ea typeface="Calibri" pitchFamily="34" charset="-122"/>
                <a:cs typeface="Calibri" pitchFamily="34" charset="-120"/>
              </a:rPr>
              <a:t>This forms the foundation for every recommendation later in this deck.</a:t>
            </a:r>
            <a:endParaRPr lang="en-US" sz="1200" dirty="0"/>
          </a:p>
        </p:txBody>
      </p:sp>
      <p:sp>
        <p:nvSpPr>
          <p:cNvPr id="10" name="Text 7"/>
          <p:cNvSpPr/>
          <p:nvPr/>
        </p:nvSpPr>
        <p:spPr>
          <a:xfrm>
            <a:off x="6172200" y="1737360"/>
            <a:ext cx="5486400" cy="320040"/>
          </a:xfrm>
          <a:prstGeom prst="rect">
            <a:avLst/>
          </a:prstGeom>
          <a:noFill/>
          <a:ln/>
        </p:spPr>
        <p:txBody>
          <a:bodyPr wrap="square" lIns="0" tIns="0" rIns="0" bIns="0" rtlCol="0" anchor="ctr"/>
          <a:lstStyle/>
          <a:p>
            <a:pPr marL="0" indent="0">
              <a:buNone/>
            </a:pPr>
            <a:r>
              <a:rPr lang="en-US" sz="1200" b="1" kern="0" spc="150" dirty="0">
                <a:solidFill>
                  <a:srgbClr val="2D6A4F"/>
                </a:solidFill>
                <a:latin typeface="Calibri" pitchFamily="34" charset="0"/>
                <a:ea typeface="Calibri" pitchFamily="34" charset="-122"/>
                <a:cs typeface="Calibri" pitchFamily="34" charset="-120"/>
              </a:rPr>
              <a:t>SECONDARY OBJECTIVES</a:t>
            </a:r>
            <a:endParaRPr lang="en-US" sz="1200" dirty="0"/>
          </a:p>
        </p:txBody>
      </p:sp>
      <p:sp>
        <p:nvSpPr>
          <p:cNvPr id="11" name="Shape 8"/>
          <p:cNvSpPr/>
          <p:nvPr/>
        </p:nvSpPr>
        <p:spPr>
          <a:xfrm>
            <a:off x="6172200" y="2148840"/>
            <a:ext cx="5440680" cy="1143000"/>
          </a:xfrm>
          <a:prstGeom prst="roundRect">
            <a:avLst>
              <a:gd name="adj" fmla="val 5600"/>
            </a:avLst>
          </a:prstGeom>
          <a:solidFill>
            <a:srgbClr val="EAF4EE"/>
          </a:solidFill>
          <a:ln w="12700">
            <a:solidFill>
              <a:srgbClr val="C9DED2"/>
            </a:solidFill>
            <a:prstDash val="solid"/>
          </a:ln>
        </p:spPr>
      </p:sp>
      <p:sp>
        <p:nvSpPr>
          <p:cNvPr id="12" name="Shape 9"/>
          <p:cNvSpPr/>
          <p:nvPr/>
        </p:nvSpPr>
        <p:spPr>
          <a:xfrm>
            <a:off x="6400800" y="2404872"/>
            <a:ext cx="621792" cy="621792"/>
          </a:xfrm>
          <a:prstGeom prst="ellipse">
            <a:avLst/>
          </a:prstGeom>
          <a:solidFill>
            <a:srgbClr val="FFFFFF"/>
          </a:solidFill>
          <a:ln/>
        </p:spPr>
      </p:sp>
      <p:pic>
        <p:nvPicPr>
          <p:cNvPr id="13" name="Image 1" descr="/home/claude/icons/users_mid.png"/>
          <p:cNvPicPr>
            <a:picLocks noChangeAspect="1"/>
          </p:cNvPicPr>
          <p:nvPr/>
        </p:nvPicPr>
        <p:blipFill>
          <a:blip r:embed="rId4"/>
          <a:stretch>
            <a:fillRect/>
          </a:stretch>
        </p:blipFill>
        <p:spPr>
          <a:xfrm>
            <a:off x="6556248" y="2560320"/>
            <a:ext cx="310896" cy="310896"/>
          </a:xfrm>
          <a:prstGeom prst="rect">
            <a:avLst/>
          </a:prstGeom>
        </p:spPr>
      </p:pic>
      <p:sp>
        <p:nvSpPr>
          <p:cNvPr id="14" name="Text 10"/>
          <p:cNvSpPr/>
          <p:nvPr/>
        </p:nvSpPr>
        <p:spPr>
          <a:xfrm>
            <a:off x="7178040" y="2148840"/>
            <a:ext cx="4297680" cy="1143000"/>
          </a:xfrm>
          <a:prstGeom prst="rect">
            <a:avLst/>
          </a:prstGeom>
          <a:noFill/>
          <a:ln/>
        </p:spPr>
        <p:txBody>
          <a:bodyPr wrap="square" lIns="0" tIns="0" rIns="0" bIns="0" rtlCol="0" anchor="ctr"/>
          <a:lstStyle/>
          <a:p>
            <a:pPr marL="0" indent="0">
              <a:lnSpc>
                <a:spcPct val="115000"/>
              </a:lnSpc>
              <a:buNone/>
            </a:pPr>
            <a:r>
              <a:rPr lang="en-US" sz="1300" b="1" dirty="0">
                <a:solidFill>
                  <a:srgbClr val="1B2B22"/>
                </a:solidFill>
                <a:latin typeface="Calibri" pitchFamily="34" charset="0"/>
                <a:ea typeface="Calibri" pitchFamily="34" charset="-122"/>
                <a:cs typeface="Calibri" pitchFamily="34" charset="-120"/>
              </a:rPr>
              <a:t>Assess operator performance and workload distribution</a:t>
            </a:r>
            <a:endParaRPr lang="en-US" sz="1300" dirty="0"/>
          </a:p>
        </p:txBody>
      </p:sp>
      <p:sp>
        <p:nvSpPr>
          <p:cNvPr id="15" name="Shape 11"/>
          <p:cNvSpPr/>
          <p:nvPr/>
        </p:nvSpPr>
        <p:spPr>
          <a:xfrm>
            <a:off x="6172200" y="3474720"/>
            <a:ext cx="5440680" cy="1143000"/>
          </a:xfrm>
          <a:prstGeom prst="roundRect">
            <a:avLst>
              <a:gd name="adj" fmla="val 5600"/>
            </a:avLst>
          </a:prstGeom>
          <a:solidFill>
            <a:srgbClr val="EAF4EE"/>
          </a:solidFill>
          <a:ln w="12700">
            <a:solidFill>
              <a:srgbClr val="C9DED2"/>
            </a:solidFill>
            <a:prstDash val="solid"/>
          </a:ln>
        </p:spPr>
      </p:sp>
      <p:sp>
        <p:nvSpPr>
          <p:cNvPr id="16" name="Shape 12"/>
          <p:cNvSpPr/>
          <p:nvPr/>
        </p:nvSpPr>
        <p:spPr>
          <a:xfrm>
            <a:off x="6400800" y="3730752"/>
            <a:ext cx="621792" cy="621792"/>
          </a:xfrm>
          <a:prstGeom prst="ellipse">
            <a:avLst/>
          </a:prstGeom>
          <a:solidFill>
            <a:srgbClr val="FFFFFF"/>
          </a:solidFill>
          <a:ln/>
        </p:spPr>
      </p:sp>
      <p:pic>
        <p:nvPicPr>
          <p:cNvPr id="17" name="Image 2" descr="/home/claude/icons/trend_mid.png"/>
          <p:cNvPicPr>
            <a:picLocks noChangeAspect="1"/>
          </p:cNvPicPr>
          <p:nvPr/>
        </p:nvPicPr>
        <p:blipFill>
          <a:blip r:embed="rId5"/>
          <a:stretch>
            <a:fillRect/>
          </a:stretch>
        </p:blipFill>
        <p:spPr>
          <a:xfrm>
            <a:off x="6556248" y="3886200"/>
            <a:ext cx="310896" cy="310896"/>
          </a:xfrm>
          <a:prstGeom prst="rect">
            <a:avLst/>
          </a:prstGeom>
        </p:spPr>
      </p:pic>
      <p:sp>
        <p:nvSpPr>
          <p:cNvPr id="18" name="Text 13"/>
          <p:cNvSpPr/>
          <p:nvPr/>
        </p:nvSpPr>
        <p:spPr>
          <a:xfrm>
            <a:off x="7178040" y="3474720"/>
            <a:ext cx="4297680" cy="1143000"/>
          </a:xfrm>
          <a:prstGeom prst="rect">
            <a:avLst/>
          </a:prstGeom>
          <a:noFill/>
          <a:ln/>
        </p:spPr>
        <p:txBody>
          <a:bodyPr wrap="square" lIns="0" tIns="0" rIns="0" bIns="0" rtlCol="0" anchor="ctr"/>
          <a:lstStyle/>
          <a:p>
            <a:pPr marL="0" indent="0">
              <a:lnSpc>
                <a:spcPct val="115000"/>
              </a:lnSpc>
              <a:buNone/>
            </a:pPr>
            <a:r>
              <a:rPr lang="en-US" sz="1300" b="1" dirty="0">
                <a:solidFill>
                  <a:srgbClr val="1B2B22"/>
                </a:solidFill>
                <a:latin typeface="Calibri" pitchFamily="34" charset="0"/>
                <a:ea typeface="Calibri" pitchFamily="34" charset="-122"/>
                <a:cs typeface="Calibri" pitchFamily="34" charset="-120"/>
              </a:rPr>
              <a:t>Identify downtime trends and seasonal patterns over time</a:t>
            </a:r>
            <a:endParaRPr lang="en-US" sz="1300" dirty="0"/>
          </a:p>
        </p:txBody>
      </p:sp>
      <p:sp>
        <p:nvSpPr>
          <p:cNvPr id="19" name="Shape 14"/>
          <p:cNvSpPr/>
          <p:nvPr/>
        </p:nvSpPr>
        <p:spPr>
          <a:xfrm>
            <a:off x="6172200" y="4800600"/>
            <a:ext cx="5440680" cy="1143000"/>
          </a:xfrm>
          <a:prstGeom prst="roundRect">
            <a:avLst>
              <a:gd name="adj" fmla="val 5600"/>
            </a:avLst>
          </a:prstGeom>
          <a:solidFill>
            <a:srgbClr val="EAF4EE"/>
          </a:solidFill>
          <a:ln w="12700">
            <a:solidFill>
              <a:srgbClr val="C9DED2"/>
            </a:solidFill>
            <a:prstDash val="solid"/>
          </a:ln>
        </p:spPr>
      </p:sp>
      <p:sp>
        <p:nvSpPr>
          <p:cNvPr id="20" name="Shape 15"/>
          <p:cNvSpPr/>
          <p:nvPr/>
        </p:nvSpPr>
        <p:spPr>
          <a:xfrm>
            <a:off x="6400800" y="5056632"/>
            <a:ext cx="621792" cy="621792"/>
          </a:xfrm>
          <a:prstGeom prst="ellipse">
            <a:avLst/>
          </a:prstGeom>
          <a:solidFill>
            <a:srgbClr val="FFFFFF"/>
          </a:solidFill>
          <a:ln/>
        </p:spPr>
      </p:sp>
      <p:pic>
        <p:nvPicPr>
          <p:cNvPr id="21" name="Image 3" descr="/home/claude/icons/lightbulb_mid.png"/>
          <p:cNvPicPr>
            <a:picLocks noChangeAspect="1"/>
          </p:cNvPicPr>
          <p:nvPr/>
        </p:nvPicPr>
        <p:blipFill>
          <a:blip r:embed="rId6"/>
          <a:stretch>
            <a:fillRect/>
          </a:stretch>
        </p:blipFill>
        <p:spPr>
          <a:xfrm>
            <a:off x="6556248" y="5212080"/>
            <a:ext cx="310896" cy="310896"/>
          </a:xfrm>
          <a:prstGeom prst="rect">
            <a:avLst/>
          </a:prstGeom>
        </p:spPr>
      </p:pic>
      <p:sp>
        <p:nvSpPr>
          <p:cNvPr id="22" name="Text 16"/>
          <p:cNvSpPr/>
          <p:nvPr/>
        </p:nvSpPr>
        <p:spPr>
          <a:xfrm>
            <a:off x="7178040" y="4800600"/>
            <a:ext cx="4297680" cy="1143000"/>
          </a:xfrm>
          <a:prstGeom prst="rect">
            <a:avLst/>
          </a:prstGeom>
          <a:noFill/>
          <a:ln/>
        </p:spPr>
        <p:txBody>
          <a:bodyPr wrap="square" lIns="0" tIns="0" rIns="0" bIns="0" rtlCol="0" anchor="ctr"/>
          <a:lstStyle/>
          <a:p>
            <a:pPr marL="0" indent="0">
              <a:lnSpc>
                <a:spcPct val="115000"/>
              </a:lnSpc>
              <a:buNone/>
            </a:pPr>
            <a:r>
              <a:rPr lang="en-US" sz="1300" b="1" dirty="0">
                <a:solidFill>
                  <a:srgbClr val="1B2B22"/>
                </a:solidFill>
                <a:latin typeface="Calibri" pitchFamily="34" charset="0"/>
                <a:ea typeface="Calibri" pitchFamily="34" charset="-122"/>
                <a:cs typeface="Calibri" pitchFamily="34" charset="-120"/>
              </a:rPr>
              <a:t>Recommend strategies to improve efficiency and reduce cost</a:t>
            </a:r>
            <a:endParaRPr lang="en-US" sz="1300" dirty="0"/>
          </a:p>
        </p:txBody>
      </p:sp>
      <p:sp>
        <p:nvSpPr>
          <p:cNvPr id="23"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24"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HOW WE GOT HERE</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548640" y="1737360"/>
            <a:ext cx="2724912" cy="4114800"/>
          </a:xfrm>
          <a:prstGeom prst="roundRect">
            <a:avLst>
              <a:gd name="adj" fmla="val 2349"/>
            </a:avLst>
          </a:prstGeom>
          <a:solidFill>
            <a:srgbClr val="EAF4EE"/>
          </a:solidFill>
          <a:ln w="12700">
            <a:solidFill>
              <a:srgbClr val="C9DED2"/>
            </a:solidFill>
            <a:prstDash val="solid"/>
          </a:ln>
        </p:spPr>
      </p:sp>
      <p:sp>
        <p:nvSpPr>
          <p:cNvPr id="5" name="Shape 3"/>
          <p:cNvSpPr/>
          <p:nvPr/>
        </p:nvSpPr>
        <p:spPr>
          <a:xfrm>
            <a:off x="1499616" y="2011680"/>
            <a:ext cx="822960" cy="822960"/>
          </a:xfrm>
          <a:prstGeom prst="ellipse">
            <a:avLst/>
          </a:prstGeom>
          <a:solidFill>
            <a:srgbClr val="2D6A4F"/>
          </a:solidFill>
          <a:ln/>
        </p:spPr>
      </p:sp>
      <p:pic>
        <p:nvPicPr>
          <p:cNvPr id="6" name="Image 0" descr="/home/claude/icons/database_white.png"/>
          <p:cNvPicPr>
            <a:picLocks noChangeAspect="1"/>
          </p:cNvPicPr>
          <p:nvPr/>
        </p:nvPicPr>
        <p:blipFill>
          <a:blip r:embed="rId3"/>
          <a:stretch>
            <a:fillRect/>
          </a:stretch>
        </p:blipFill>
        <p:spPr>
          <a:xfrm>
            <a:off x="1705356" y="2217420"/>
            <a:ext cx="411480" cy="411480"/>
          </a:xfrm>
          <a:prstGeom prst="rect">
            <a:avLst/>
          </a:prstGeom>
        </p:spPr>
      </p:pic>
      <p:sp>
        <p:nvSpPr>
          <p:cNvPr id="7" name="Text 4"/>
          <p:cNvSpPr/>
          <p:nvPr/>
        </p:nvSpPr>
        <p:spPr>
          <a:xfrm>
            <a:off x="685800" y="3017520"/>
            <a:ext cx="2450592"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mbria" pitchFamily="34" charset="0"/>
                <a:ea typeface="Cambria" pitchFamily="34" charset="-122"/>
                <a:cs typeface="Cambria" pitchFamily="34" charset="-120"/>
              </a:rPr>
              <a:t>PostgreSQL</a:t>
            </a:r>
            <a:endParaRPr lang="en-US" sz="1600" dirty="0"/>
          </a:p>
        </p:txBody>
      </p:sp>
      <p:sp>
        <p:nvSpPr>
          <p:cNvPr id="8" name="Text 5"/>
          <p:cNvSpPr/>
          <p:nvPr/>
        </p:nvSpPr>
        <p:spPr>
          <a:xfrm>
            <a:off x="749808" y="3520440"/>
            <a:ext cx="2322576" cy="2194560"/>
          </a:xfrm>
          <a:prstGeom prst="rect">
            <a:avLst/>
          </a:prstGeom>
          <a:noFill/>
          <a:ln/>
        </p:spPr>
        <p:txBody>
          <a:bodyPr wrap="square" lIns="0" tIns="0" rIns="0" bIns="0" rtlCol="0" anchor="ctr"/>
          <a:lstStyle/>
          <a:p>
            <a:pPr marL="0" indent="0" algn="ctr">
              <a:lnSpc>
                <a:spcPct val="120000"/>
              </a:lnSpc>
              <a:buNone/>
            </a:pPr>
            <a:r>
              <a:rPr lang="en-US" sz="1150" dirty="0">
                <a:solidFill>
                  <a:srgbClr val="1B2B22"/>
                </a:solidFill>
                <a:latin typeface="Calibri" pitchFamily="34" charset="0"/>
                <a:ea typeface="Calibri" pitchFamily="34" charset="-122"/>
                <a:cs typeface="Calibri" pitchFamily="34" charset="-120"/>
              </a:rPr>
              <a:t>Production and downtime records were extracted and queried from a PostgreSQL database, ensuring a single reliable source of truth.</a:t>
            </a:r>
            <a:endParaRPr lang="en-US" sz="1150" dirty="0"/>
          </a:p>
        </p:txBody>
      </p:sp>
      <p:sp>
        <p:nvSpPr>
          <p:cNvPr id="9" name="Shape 6"/>
          <p:cNvSpPr/>
          <p:nvPr/>
        </p:nvSpPr>
        <p:spPr>
          <a:xfrm>
            <a:off x="3419856" y="1737360"/>
            <a:ext cx="2724912" cy="4114800"/>
          </a:xfrm>
          <a:prstGeom prst="roundRect">
            <a:avLst>
              <a:gd name="adj" fmla="val 2349"/>
            </a:avLst>
          </a:prstGeom>
          <a:solidFill>
            <a:srgbClr val="EAF4EE"/>
          </a:solidFill>
          <a:ln w="12700">
            <a:solidFill>
              <a:srgbClr val="C9DED2"/>
            </a:solidFill>
            <a:prstDash val="solid"/>
          </a:ln>
        </p:spPr>
      </p:sp>
      <p:sp>
        <p:nvSpPr>
          <p:cNvPr id="10" name="Shape 7"/>
          <p:cNvSpPr/>
          <p:nvPr/>
        </p:nvSpPr>
        <p:spPr>
          <a:xfrm>
            <a:off x="4370832" y="2011680"/>
            <a:ext cx="822960" cy="822960"/>
          </a:xfrm>
          <a:prstGeom prst="ellipse">
            <a:avLst/>
          </a:prstGeom>
          <a:solidFill>
            <a:srgbClr val="2D6A4F"/>
          </a:solidFill>
          <a:ln/>
        </p:spPr>
      </p:sp>
      <p:pic>
        <p:nvPicPr>
          <p:cNvPr id="11" name="Image 1" descr="/home/claude/icons/dashboard_white.png"/>
          <p:cNvPicPr>
            <a:picLocks noChangeAspect="1"/>
          </p:cNvPicPr>
          <p:nvPr/>
        </p:nvPicPr>
        <p:blipFill>
          <a:blip r:embed="rId4"/>
          <a:stretch>
            <a:fillRect/>
          </a:stretch>
        </p:blipFill>
        <p:spPr>
          <a:xfrm>
            <a:off x="4576572" y="2217420"/>
            <a:ext cx="411480" cy="411480"/>
          </a:xfrm>
          <a:prstGeom prst="rect">
            <a:avLst/>
          </a:prstGeom>
        </p:spPr>
      </p:pic>
      <p:sp>
        <p:nvSpPr>
          <p:cNvPr id="12" name="Text 8"/>
          <p:cNvSpPr/>
          <p:nvPr/>
        </p:nvSpPr>
        <p:spPr>
          <a:xfrm>
            <a:off x="3557016" y="3017520"/>
            <a:ext cx="2450592"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mbria" pitchFamily="34" charset="0"/>
                <a:ea typeface="Cambria" pitchFamily="34" charset="-122"/>
                <a:cs typeface="Cambria" pitchFamily="34" charset="-120"/>
              </a:rPr>
              <a:t>Power BI</a:t>
            </a:r>
            <a:endParaRPr lang="en-US" sz="1600" dirty="0"/>
          </a:p>
        </p:txBody>
      </p:sp>
      <p:sp>
        <p:nvSpPr>
          <p:cNvPr id="13" name="Text 9"/>
          <p:cNvSpPr/>
          <p:nvPr/>
        </p:nvSpPr>
        <p:spPr>
          <a:xfrm>
            <a:off x="3621024" y="3520440"/>
            <a:ext cx="2322576" cy="2194560"/>
          </a:xfrm>
          <a:prstGeom prst="rect">
            <a:avLst/>
          </a:prstGeom>
          <a:noFill/>
          <a:ln/>
        </p:spPr>
        <p:txBody>
          <a:bodyPr wrap="square" lIns="0" tIns="0" rIns="0" bIns="0" rtlCol="0" anchor="ctr"/>
          <a:lstStyle/>
          <a:p>
            <a:pPr marL="0" indent="0" algn="ctr">
              <a:lnSpc>
                <a:spcPct val="120000"/>
              </a:lnSpc>
              <a:buNone/>
            </a:pPr>
            <a:r>
              <a:rPr lang="en-US" sz="1150" dirty="0">
                <a:solidFill>
                  <a:srgbClr val="1B2B22"/>
                </a:solidFill>
                <a:latin typeface="Calibri" pitchFamily="34" charset="0"/>
                <a:ea typeface="Calibri" pitchFamily="34" charset="-122"/>
                <a:cs typeface="Calibri" pitchFamily="34" charset="-120"/>
              </a:rPr>
              <a:t>Interactive dashboards were built in Power BI to give stakeholders real-time, self-serve visibility into production performance.</a:t>
            </a:r>
            <a:endParaRPr lang="en-US" sz="1150" dirty="0"/>
          </a:p>
        </p:txBody>
      </p:sp>
      <p:sp>
        <p:nvSpPr>
          <p:cNvPr id="14" name="Shape 10"/>
          <p:cNvSpPr/>
          <p:nvPr/>
        </p:nvSpPr>
        <p:spPr>
          <a:xfrm>
            <a:off x="6291072" y="1737360"/>
            <a:ext cx="2724912" cy="4114800"/>
          </a:xfrm>
          <a:prstGeom prst="roundRect">
            <a:avLst>
              <a:gd name="adj" fmla="val 2349"/>
            </a:avLst>
          </a:prstGeom>
          <a:solidFill>
            <a:srgbClr val="EAF4EE"/>
          </a:solidFill>
          <a:ln w="12700">
            <a:solidFill>
              <a:srgbClr val="C9DED2"/>
            </a:solidFill>
            <a:prstDash val="solid"/>
          </a:ln>
        </p:spPr>
      </p:sp>
      <p:sp>
        <p:nvSpPr>
          <p:cNvPr id="15" name="Shape 11"/>
          <p:cNvSpPr/>
          <p:nvPr/>
        </p:nvSpPr>
        <p:spPr>
          <a:xfrm>
            <a:off x="7242048" y="2011680"/>
            <a:ext cx="822960" cy="822960"/>
          </a:xfrm>
          <a:prstGeom prst="ellipse">
            <a:avLst/>
          </a:prstGeom>
          <a:solidFill>
            <a:srgbClr val="2D6A4F"/>
          </a:solidFill>
          <a:ln/>
        </p:spPr>
      </p:sp>
      <p:pic>
        <p:nvPicPr>
          <p:cNvPr id="16" name="Image 2" descr="/home/claude/icons/layers_white.png"/>
          <p:cNvPicPr>
            <a:picLocks noChangeAspect="1"/>
          </p:cNvPicPr>
          <p:nvPr/>
        </p:nvPicPr>
        <p:blipFill>
          <a:blip r:embed="rId5"/>
          <a:stretch>
            <a:fillRect/>
          </a:stretch>
        </p:blipFill>
        <p:spPr>
          <a:xfrm>
            <a:off x="7447788" y="2217420"/>
            <a:ext cx="411480" cy="411480"/>
          </a:xfrm>
          <a:prstGeom prst="rect">
            <a:avLst/>
          </a:prstGeom>
        </p:spPr>
      </p:pic>
      <p:sp>
        <p:nvSpPr>
          <p:cNvPr id="17" name="Text 12"/>
          <p:cNvSpPr/>
          <p:nvPr/>
        </p:nvSpPr>
        <p:spPr>
          <a:xfrm>
            <a:off x="6428232" y="3017520"/>
            <a:ext cx="2450592"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mbria" pitchFamily="34" charset="0"/>
                <a:ea typeface="Cambria" pitchFamily="34" charset="-122"/>
                <a:cs typeface="Cambria" pitchFamily="34" charset="-120"/>
              </a:rPr>
              <a:t>Data Modeling</a:t>
            </a:r>
            <a:endParaRPr lang="en-US" sz="1600" dirty="0"/>
          </a:p>
        </p:txBody>
      </p:sp>
      <p:sp>
        <p:nvSpPr>
          <p:cNvPr id="18" name="Text 13"/>
          <p:cNvSpPr/>
          <p:nvPr/>
        </p:nvSpPr>
        <p:spPr>
          <a:xfrm>
            <a:off x="6492240" y="3520440"/>
            <a:ext cx="2322576" cy="2194560"/>
          </a:xfrm>
          <a:prstGeom prst="rect">
            <a:avLst/>
          </a:prstGeom>
          <a:noFill/>
          <a:ln/>
        </p:spPr>
        <p:txBody>
          <a:bodyPr wrap="square" lIns="0" tIns="0" rIns="0" bIns="0" rtlCol="0" anchor="ctr"/>
          <a:lstStyle/>
          <a:p>
            <a:pPr marL="0" indent="0" algn="ctr">
              <a:lnSpc>
                <a:spcPct val="120000"/>
              </a:lnSpc>
              <a:buNone/>
            </a:pPr>
            <a:r>
              <a:rPr lang="en-US" sz="1150" dirty="0">
                <a:solidFill>
                  <a:srgbClr val="1B2B22"/>
                </a:solidFill>
                <a:latin typeface="Calibri" pitchFamily="34" charset="0"/>
                <a:ea typeface="Calibri" pitchFamily="34" charset="-122"/>
                <a:cs typeface="Calibri" pitchFamily="34" charset="-120"/>
              </a:rPr>
              <a:t>Tables were structured and related through a clean data model, linking batches, operators, products, and downtime factors.</a:t>
            </a:r>
            <a:endParaRPr lang="en-US" sz="1150" dirty="0"/>
          </a:p>
        </p:txBody>
      </p:sp>
      <p:sp>
        <p:nvSpPr>
          <p:cNvPr id="19" name="Shape 14"/>
          <p:cNvSpPr/>
          <p:nvPr/>
        </p:nvSpPr>
        <p:spPr>
          <a:xfrm>
            <a:off x="9162288" y="1737360"/>
            <a:ext cx="2724912" cy="4114800"/>
          </a:xfrm>
          <a:prstGeom prst="roundRect">
            <a:avLst>
              <a:gd name="adj" fmla="val 2349"/>
            </a:avLst>
          </a:prstGeom>
          <a:solidFill>
            <a:srgbClr val="EAF4EE"/>
          </a:solidFill>
          <a:ln w="12700">
            <a:solidFill>
              <a:srgbClr val="C9DED2"/>
            </a:solidFill>
            <a:prstDash val="solid"/>
          </a:ln>
        </p:spPr>
      </p:sp>
      <p:sp>
        <p:nvSpPr>
          <p:cNvPr id="20" name="Shape 15"/>
          <p:cNvSpPr/>
          <p:nvPr/>
        </p:nvSpPr>
        <p:spPr>
          <a:xfrm>
            <a:off x="10113264" y="2011680"/>
            <a:ext cx="822960" cy="822960"/>
          </a:xfrm>
          <a:prstGeom prst="ellipse">
            <a:avLst/>
          </a:prstGeom>
          <a:solidFill>
            <a:srgbClr val="2D6A4F"/>
          </a:solidFill>
          <a:ln/>
        </p:spPr>
      </p:sp>
      <p:pic>
        <p:nvPicPr>
          <p:cNvPr id="21" name="Image 3" descr="/home/claude/icons/calculator_white.png"/>
          <p:cNvPicPr>
            <a:picLocks noChangeAspect="1"/>
          </p:cNvPicPr>
          <p:nvPr/>
        </p:nvPicPr>
        <p:blipFill>
          <a:blip r:embed="rId6"/>
          <a:stretch>
            <a:fillRect/>
          </a:stretch>
        </p:blipFill>
        <p:spPr>
          <a:xfrm>
            <a:off x="10319004" y="2217420"/>
            <a:ext cx="411480" cy="411480"/>
          </a:xfrm>
          <a:prstGeom prst="rect">
            <a:avLst/>
          </a:prstGeom>
        </p:spPr>
      </p:pic>
      <p:sp>
        <p:nvSpPr>
          <p:cNvPr id="22" name="Text 16"/>
          <p:cNvSpPr/>
          <p:nvPr/>
        </p:nvSpPr>
        <p:spPr>
          <a:xfrm>
            <a:off x="9299448" y="3017520"/>
            <a:ext cx="2450592" cy="457200"/>
          </a:xfrm>
          <a:prstGeom prst="rect">
            <a:avLst/>
          </a:prstGeom>
          <a:noFill/>
          <a:ln/>
        </p:spPr>
        <p:txBody>
          <a:bodyPr wrap="square" lIns="0" tIns="0" rIns="0" bIns="0" rtlCol="0" anchor="ctr"/>
          <a:lstStyle/>
          <a:p>
            <a:pPr marL="0" indent="0" algn="ctr">
              <a:buNone/>
            </a:pPr>
            <a:r>
              <a:rPr lang="en-US" sz="1600" b="1" dirty="0">
                <a:solidFill>
                  <a:srgbClr val="1B4332"/>
                </a:solidFill>
                <a:latin typeface="Cambria" pitchFamily="34" charset="0"/>
                <a:ea typeface="Cambria" pitchFamily="34" charset="-122"/>
                <a:cs typeface="Cambria" pitchFamily="34" charset="-120"/>
              </a:rPr>
              <a:t>DAX Measures</a:t>
            </a:r>
            <a:endParaRPr lang="en-US" sz="1600" dirty="0"/>
          </a:p>
        </p:txBody>
      </p:sp>
      <p:sp>
        <p:nvSpPr>
          <p:cNvPr id="23" name="Text 17"/>
          <p:cNvSpPr/>
          <p:nvPr/>
        </p:nvSpPr>
        <p:spPr>
          <a:xfrm>
            <a:off x="9363456" y="3520440"/>
            <a:ext cx="2322576" cy="2194560"/>
          </a:xfrm>
          <a:prstGeom prst="rect">
            <a:avLst/>
          </a:prstGeom>
          <a:noFill/>
          <a:ln/>
        </p:spPr>
        <p:txBody>
          <a:bodyPr wrap="square" lIns="0" tIns="0" rIns="0" bIns="0" rtlCol="0" anchor="ctr"/>
          <a:lstStyle/>
          <a:p>
            <a:pPr marL="0" indent="0" algn="ctr">
              <a:lnSpc>
                <a:spcPct val="120000"/>
              </a:lnSpc>
              <a:buNone/>
            </a:pPr>
            <a:r>
              <a:rPr lang="en-US" sz="1150" dirty="0">
                <a:solidFill>
                  <a:srgbClr val="1B2B22"/>
                </a:solidFill>
                <a:latin typeface="Calibri" pitchFamily="34" charset="0"/>
                <a:ea typeface="Calibri" pitchFamily="34" charset="-122"/>
                <a:cs typeface="Calibri" pitchFamily="34" charset="-120"/>
              </a:rPr>
              <a:t>Custom DAX measures calculated the KPIs behind every dashboard — from delayed-batch rates to downtime duration trends.</a:t>
            </a:r>
            <a:endParaRPr lang="en-US" sz="11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PROCESS FLOW</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Data Architecture &amp; Workflow</a:t>
            </a:r>
            <a:endParaRPr lang="en-US" sz="3000" dirty="0"/>
          </a:p>
        </p:txBody>
      </p:sp>
      <p:sp>
        <p:nvSpPr>
          <p:cNvPr id="4" name="Shape 2"/>
          <p:cNvSpPr/>
          <p:nvPr/>
        </p:nvSpPr>
        <p:spPr>
          <a:xfrm>
            <a:off x="1051560" y="3246120"/>
            <a:ext cx="10085832" cy="0"/>
          </a:xfrm>
          <a:prstGeom prst="line">
            <a:avLst/>
          </a:prstGeom>
          <a:noFill/>
          <a:ln w="25400">
            <a:solidFill>
              <a:srgbClr val="C9DED2"/>
            </a:solidFill>
            <a:prstDash val="dash"/>
          </a:ln>
        </p:spPr>
      </p:sp>
      <p:sp>
        <p:nvSpPr>
          <p:cNvPr id="5" name="Shape 3"/>
          <p:cNvSpPr/>
          <p:nvPr/>
        </p:nvSpPr>
        <p:spPr>
          <a:xfrm>
            <a:off x="1107186" y="2880360"/>
            <a:ext cx="731520" cy="731520"/>
          </a:xfrm>
          <a:prstGeom prst="ellipse">
            <a:avLst/>
          </a:prstGeom>
          <a:solidFill>
            <a:srgbClr val="2D6A4F"/>
          </a:solidFill>
          <a:ln/>
        </p:spPr>
      </p:sp>
      <p:pic>
        <p:nvPicPr>
          <p:cNvPr id="6" name="Image 0" descr="/home/claude/icons/database_white.png"/>
          <p:cNvPicPr>
            <a:picLocks noChangeAspect="1"/>
          </p:cNvPicPr>
          <p:nvPr/>
        </p:nvPicPr>
        <p:blipFill>
          <a:blip r:embed="rId3"/>
          <a:stretch>
            <a:fillRect/>
          </a:stretch>
        </p:blipFill>
        <p:spPr>
          <a:xfrm>
            <a:off x="1290066" y="3063240"/>
            <a:ext cx="365760" cy="365760"/>
          </a:xfrm>
          <a:prstGeom prst="rect">
            <a:avLst/>
          </a:prstGeom>
        </p:spPr>
      </p:pic>
      <p:sp>
        <p:nvSpPr>
          <p:cNvPr id="7" name="Text 4"/>
          <p:cNvSpPr/>
          <p:nvPr/>
        </p:nvSpPr>
        <p:spPr>
          <a:xfrm>
            <a:off x="1107186"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594360"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Data Extraction</a:t>
            </a:r>
            <a:endParaRPr lang="en-US" sz="1250" dirty="0"/>
          </a:p>
        </p:txBody>
      </p:sp>
      <p:sp>
        <p:nvSpPr>
          <p:cNvPr id="9" name="Text 6"/>
          <p:cNvSpPr/>
          <p:nvPr/>
        </p:nvSpPr>
        <p:spPr>
          <a:xfrm>
            <a:off x="594360"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PostgreSQL production &amp; downtime records</a:t>
            </a:r>
            <a:endParaRPr lang="en-US" sz="1000" dirty="0"/>
          </a:p>
        </p:txBody>
      </p:sp>
      <p:sp>
        <p:nvSpPr>
          <p:cNvPr id="10" name="Shape 7"/>
          <p:cNvSpPr/>
          <p:nvPr/>
        </p:nvSpPr>
        <p:spPr>
          <a:xfrm>
            <a:off x="2955798" y="2880360"/>
            <a:ext cx="731520" cy="731520"/>
          </a:xfrm>
          <a:prstGeom prst="ellipse">
            <a:avLst/>
          </a:prstGeom>
          <a:solidFill>
            <a:srgbClr val="2D6A4F"/>
          </a:solidFill>
          <a:ln/>
        </p:spPr>
      </p:sp>
      <p:pic>
        <p:nvPicPr>
          <p:cNvPr id="11" name="Image 1" descr="/home/claude/icons/filter_white.png"/>
          <p:cNvPicPr>
            <a:picLocks noChangeAspect="1"/>
          </p:cNvPicPr>
          <p:nvPr/>
        </p:nvPicPr>
        <p:blipFill>
          <a:blip r:embed="rId4"/>
          <a:stretch>
            <a:fillRect/>
          </a:stretch>
        </p:blipFill>
        <p:spPr>
          <a:xfrm>
            <a:off x="3138678" y="3063240"/>
            <a:ext cx="365760" cy="365760"/>
          </a:xfrm>
          <a:prstGeom prst="rect">
            <a:avLst/>
          </a:prstGeom>
        </p:spPr>
      </p:pic>
      <p:sp>
        <p:nvSpPr>
          <p:cNvPr id="12" name="Text 8"/>
          <p:cNvSpPr/>
          <p:nvPr/>
        </p:nvSpPr>
        <p:spPr>
          <a:xfrm>
            <a:off x="2955798"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2</a:t>
            </a:r>
            <a:endParaRPr lang="en-US" sz="1100" dirty="0"/>
          </a:p>
        </p:txBody>
      </p:sp>
      <p:sp>
        <p:nvSpPr>
          <p:cNvPr id="13" name="Text 9"/>
          <p:cNvSpPr/>
          <p:nvPr/>
        </p:nvSpPr>
        <p:spPr>
          <a:xfrm>
            <a:off x="2442972"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Transformation</a:t>
            </a:r>
            <a:endParaRPr lang="en-US" sz="1250" dirty="0"/>
          </a:p>
        </p:txBody>
      </p:sp>
      <p:sp>
        <p:nvSpPr>
          <p:cNvPr id="14" name="Text 10"/>
          <p:cNvSpPr/>
          <p:nvPr/>
        </p:nvSpPr>
        <p:spPr>
          <a:xfrm>
            <a:off x="2442972"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Cleaning, structuring &amp; relating tables</a:t>
            </a:r>
            <a:endParaRPr lang="en-US" sz="1000" dirty="0"/>
          </a:p>
        </p:txBody>
      </p:sp>
      <p:sp>
        <p:nvSpPr>
          <p:cNvPr id="15" name="Shape 11"/>
          <p:cNvSpPr/>
          <p:nvPr/>
        </p:nvSpPr>
        <p:spPr>
          <a:xfrm>
            <a:off x="4804410" y="2880360"/>
            <a:ext cx="731520" cy="731520"/>
          </a:xfrm>
          <a:prstGeom prst="ellipse">
            <a:avLst/>
          </a:prstGeom>
          <a:solidFill>
            <a:srgbClr val="2D6A4F"/>
          </a:solidFill>
          <a:ln/>
        </p:spPr>
      </p:sp>
      <p:pic>
        <p:nvPicPr>
          <p:cNvPr id="16" name="Image 2" descr="/home/claude/icons/layers_white.png"/>
          <p:cNvPicPr>
            <a:picLocks noChangeAspect="1"/>
          </p:cNvPicPr>
          <p:nvPr/>
        </p:nvPicPr>
        <p:blipFill>
          <a:blip r:embed="rId5"/>
          <a:stretch>
            <a:fillRect/>
          </a:stretch>
        </p:blipFill>
        <p:spPr>
          <a:xfrm>
            <a:off x="4987290" y="3063240"/>
            <a:ext cx="365760" cy="365760"/>
          </a:xfrm>
          <a:prstGeom prst="rect">
            <a:avLst/>
          </a:prstGeom>
        </p:spPr>
      </p:pic>
      <p:sp>
        <p:nvSpPr>
          <p:cNvPr id="17" name="Text 12"/>
          <p:cNvSpPr/>
          <p:nvPr/>
        </p:nvSpPr>
        <p:spPr>
          <a:xfrm>
            <a:off x="4804410"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3</a:t>
            </a:r>
            <a:endParaRPr lang="en-US" sz="1100" dirty="0"/>
          </a:p>
        </p:txBody>
      </p:sp>
      <p:sp>
        <p:nvSpPr>
          <p:cNvPr id="18" name="Text 13"/>
          <p:cNvSpPr/>
          <p:nvPr/>
        </p:nvSpPr>
        <p:spPr>
          <a:xfrm>
            <a:off x="4291584"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Data Modeling</a:t>
            </a:r>
            <a:endParaRPr lang="en-US" sz="1250" dirty="0"/>
          </a:p>
        </p:txBody>
      </p:sp>
      <p:sp>
        <p:nvSpPr>
          <p:cNvPr id="19" name="Text 14"/>
          <p:cNvSpPr/>
          <p:nvPr/>
        </p:nvSpPr>
        <p:spPr>
          <a:xfrm>
            <a:off x="4291584"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Relationships across batches &amp; operators</a:t>
            </a:r>
            <a:endParaRPr lang="en-US" sz="1000" dirty="0"/>
          </a:p>
        </p:txBody>
      </p:sp>
      <p:sp>
        <p:nvSpPr>
          <p:cNvPr id="20" name="Shape 15"/>
          <p:cNvSpPr/>
          <p:nvPr/>
        </p:nvSpPr>
        <p:spPr>
          <a:xfrm>
            <a:off x="6653022" y="2880360"/>
            <a:ext cx="731520" cy="731520"/>
          </a:xfrm>
          <a:prstGeom prst="ellipse">
            <a:avLst/>
          </a:prstGeom>
          <a:solidFill>
            <a:srgbClr val="2D6A4F"/>
          </a:solidFill>
          <a:ln/>
        </p:spPr>
      </p:sp>
      <p:pic>
        <p:nvPicPr>
          <p:cNvPr id="21" name="Image 3" descr="/home/claude/icons/calculator_white.png"/>
          <p:cNvPicPr>
            <a:picLocks noChangeAspect="1"/>
          </p:cNvPicPr>
          <p:nvPr/>
        </p:nvPicPr>
        <p:blipFill>
          <a:blip r:embed="rId6"/>
          <a:stretch>
            <a:fillRect/>
          </a:stretch>
        </p:blipFill>
        <p:spPr>
          <a:xfrm>
            <a:off x="6835902" y="3063240"/>
            <a:ext cx="365760" cy="365760"/>
          </a:xfrm>
          <a:prstGeom prst="rect">
            <a:avLst/>
          </a:prstGeom>
        </p:spPr>
      </p:pic>
      <p:sp>
        <p:nvSpPr>
          <p:cNvPr id="22" name="Text 16"/>
          <p:cNvSpPr/>
          <p:nvPr/>
        </p:nvSpPr>
        <p:spPr>
          <a:xfrm>
            <a:off x="6653022"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4</a:t>
            </a:r>
            <a:endParaRPr lang="en-US" sz="1100" dirty="0"/>
          </a:p>
        </p:txBody>
      </p:sp>
      <p:sp>
        <p:nvSpPr>
          <p:cNvPr id="23" name="Text 17"/>
          <p:cNvSpPr/>
          <p:nvPr/>
        </p:nvSpPr>
        <p:spPr>
          <a:xfrm>
            <a:off x="6140196"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DAX Measures</a:t>
            </a:r>
            <a:endParaRPr lang="en-US" sz="1250" dirty="0"/>
          </a:p>
        </p:txBody>
      </p:sp>
      <p:sp>
        <p:nvSpPr>
          <p:cNvPr id="24" name="Text 18"/>
          <p:cNvSpPr/>
          <p:nvPr/>
        </p:nvSpPr>
        <p:spPr>
          <a:xfrm>
            <a:off x="6140196"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KPIs: delays, duration, frequency</a:t>
            </a:r>
            <a:endParaRPr lang="en-US" sz="1000" dirty="0"/>
          </a:p>
        </p:txBody>
      </p:sp>
      <p:sp>
        <p:nvSpPr>
          <p:cNvPr id="25" name="Shape 19"/>
          <p:cNvSpPr/>
          <p:nvPr/>
        </p:nvSpPr>
        <p:spPr>
          <a:xfrm>
            <a:off x="8501634" y="2880360"/>
            <a:ext cx="731520" cy="731520"/>
          </a:xfrm>
          <a:prstGeom prst="ellipse">
            <a:avLst/>
          </a:prstGeom>
          <a:solidFill>
            <a:srgbClr val="2D6A4F"/>
          </a:solidFill>
          <a:ln/>
        </p:spPr>
      </p:sp>
      <p:pic>
        <p:nvPicPr>
          <p:cNvPr id="26" name="Image 4" descr="/home/claude/icons/dashboard_white.png"/>
          <p:cNvPicPr>
            <a:picLocks noChangeAspect="1"/>
          </p:cNvPicPr>
          <p:nvPr/>
        </p:nvPicPr>
        <p:blipFill>
          <a:blip r:embed="rId7"/>
          <a:stretch>
            <a:fillRect/>
          </a:stretch>
        </p:blipFill>
        <p:spPr>
          <a:xfrm>
            <a:off x="8684514" y="3063240"/>
            <a:ext cx="365760" cy="365760"/>
          </a:xfrm>
          <a:prstGeom prst="rect">
            <a:avLst/>
          </a:prstGeom>
        </p:spPr>
      </p:pic>
      <p:sp>
        <p:nvSpPr>
          <p:cNvPr id="27" name="Text 20"/>
          <p:cNvSpPr/>
          <p:nvPr/>
        </p:nvSpPr>
        <p:spPr>
          <a:xfrm>
            <a:off x="8501634"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5</a:t>
            </a:r>
            <a:endParaRPr lang="en-US" sz="1100" dirty="0"/>
          </a:p>
        </p:txBody>
      </p:sp>
      <p:sp>
        <p:nvSpPr>
          <p:cNvPr id="28" name="Text 21"/>
          <p:cNvSpPr/>
          <p:nvPr/>
        </p:nvSpPr>
        <p:spPr>
          <a:xfrm>
            <a:off x="7988808"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Power BI Dashboards</a:t>
            </a:r>
            <a:endParaRPr lang="en-US" sz="1250" dirty="0"/>
          </a:p>
        </p:txBody>
      </p:sp>
      <p:sp>
        <p:nvSpPr>
          <p:cNvPr id="29" name="Text 22"/>
          <p:cNvSpPr/>
          <p:nvPr/>
        </p:nvSpPr>
        <p:spPr>
          <a:xfrm>
            <a:off x="7988808"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Interactive stakeholder reporting</a:t>
            </a:r>
            <a:endParaRPr lang="en-US" sz="1000" dirty="0"/>
          </a:p>
        </p:txBody>
      </p:sp>
      <p:sp>
        <p:nvSpPr>
          <p:cNvPr id="30" name="Shape 23"/>
          <p:cNvSpPr/>
          <p:nvPr/>
        </p:nvSpPr>
        <p:spPr>
          <a:xfrm>
            <a:off x="10350246" y="2880360"/>
            <a:ext cx="731520" cy="731520"/>
          </a:xfrm>
          <a:prstGeom prst="ellipse">
            <a:avLst/>
          </a:prstGeom>
          <a:solidFill>
            <a:srgbClr val="E3A63E"/>
          </a:solidFill>
          <a:ln/>
        </p:spPr>
      </p:sp>
      <p:pic>
        <p:nvPicPr>
          <p:cNvPr id="31" name="Image 5" descr="/home/claude/icons/lightbulb_white.png"/>
          <p:cNvPicPr>
            <a:picLocks noChangeAspect="1"/>
          </p:cNvPicPr>
          <p:nvPr/>
        </p:nvPicPr>
        <p:blipFill>
          <a:blip r:embed="rId8"/>
          <a:stretch>
            <a:fillRect/>
          </a:stretch>
        </p:blipFill>
        <p:spPr>
          <a:xfrm>
            <a:off x="10533126" y="3063240"/>
            <a:ext cx="365760" cy="365760"/>
          </a:xfrm>
          <a:prstGeom prst="rect">
            <a:avLst/>
          </a:prstGeom>
        </p:spPr>
      </p:pic>
      <p:sp>
        <p:nvSpPr>
          <p:cNvPr id="32" name="Text 24"/>
          <p:cNvSpPr/>
          <p:nvPr/>
        </p:nvSpPr>
        <p:spPr>
          <a:xfrm>
            <a:off x="10350246" y="2587752"/>
            <a:ext cx="731520" cy="274320"/>
          </a:xfrm>
          <a:prstGeom prst="rect">
            <a:avLst/>
          </a:prstGeom>
          <a:noFill/>
          <a:ln/>
        </p:spPr>
        <p:txBody>
          <a:bodyPr wrap="square" lIns="0" tIns="0" rIns="0" bIns="0" rtlCol="0" anchor="ctr"/>
          <a:lstStyle/>
          <a:p>
            <a:pPr marL="0" indent="0" algn="ctr">
              <a:buNone/>
            </a:pPr>
            <a:r>
              <a:rPr lang="en-US" sz="1100" b="1" dirty="0">
                <a:solidFill>
                  <a:srgbClr val="5B7B6A"/>
                </a:solidFill>
                <a:latin typeface="Calibri" pitchFamily="34" charset="0"/>
                <a:ea typeface="Calibri" pitchFamily="34" charset="-122"/>
                <a:cs typeface="Calibri" pitchFamily="34" charset="-120"/>
              </a:rPr>
              <a:t>6</a:t>
            </a:r>
            <a:endParaRPr lang="en-US" sz="1100" dirty="0"/>
          </a:p>
        </p:txBody>
      </p:sp>
      <p:sp>
        <p:nvSpPr>
          <p:cNvPr id="33" name="Text 25"/>
          <p:cNvSpPr/>
          <p:nvPr/>
        </p:nvSpPr>
        <p:spPr>
          <a:xfrm>
            <a:off x="9837420" y="3749040"/>
            <a:ext cx="1757172" cy="548640"/>
          </a:xfrm>
          <a:prstGeom prst="rect">
            <a:avLst/>
          </a:prstGeom>
          <a:noFill/>
          <a:ln/>
        </p:spPr>
        <p:txBody>
          <a:bodyPr wrap="square" lIns="0" tIns="0" rIns="0" bIns="0" rtlCol="0" anchor="ctr"/>
          <a:lstStyle/>
          <a:p>
            <a:pPr marL="0" indent="0" algn="ctr">
              <a:buNone/>
            </a:pPr>
            <a:r>
              <a:rPr lang="en-US" sz="1250" b="1" dirty="0">
                <a:solidFill>
                  <a:srgbClr val="1B2B22"/>
                </a:solidFill>
                <a:latin typeface="Calibri" pitchFamily="34" charset="0"/>
                <a:ea typeface="Calibri" pitchFamily="34" charset="-122"/>
                <a:cs typeface="Calibri" pitchFamily="34" charset="-120"/>
              </a:rPr>
              <a:t>Insights &amp; Recommendations</a:t>
            </a:r>
            <a:endParaRPr lang="en-US" sz="1250" dirty="0"/>
          </a:p>
        </p:txBody>
      </p:sp>
      <p:sp>
        <p:nvSpPr>
          <p:cNvPr id="34" name="Text 26"/>
          <p:cNvSpPr/>
          <p:nvPr/>
        </p:nvSpPr>
        <p:spPr>
          <a:xfrm>
            <a:off x="9837420" y="4297680"/>
            <a:ext cx="1757172" cy="1188720"/>
          </a:xfrm>
          <a:prstGeom prst="rect">
            <a:avLst/>
          </a:prstGeom>
          <a:noFill/>
          <a:ln/>
        </p:spPr>
        <p:txBody>
          <a:bodyPr wrap="square" lIns="0" tIns="0" rIns="0" bIns="0" rtlCol="0" anchor="ctr"/>
          <a:lstStyle/>
          <a:p>
            <a:pPr marL="0" indent="0" algn="ctr">
              <a:lnSpc>
                <a:spcPct val="115000"/>
              </a:lnSpc>
              <a:buNone/>
            </a:pPr>
            <a:r>
              <a:rPr lang="en-US" sz="1000" dirty="0">
                <a:solidFill>
                  <a:srgbClr val="5B7B6A"/>
                </a:solidFill>
                <a:latin typeface="Calibri" pitchFamily="34" charset="0"/>
                <a:ea typeface="Calibri" pitchFamily="34" charset="-122"/>
                <a:cs typeface="Calibri" pitchFamily="34" charset="-120"/>
              </a:rPr>
              <a:t>Actionable strategy for leadership</a:t>
            </a:r>
            <a:endParaRPr lang="en-US" sz="1000" dirty="0"/>
          </a:p>
        </p:txBody>
      </p:sp>
      <p:sp>
        <p:nvSpPr>
          <p:cNvPr id="35" name="Shape 27"/>
          <p:cNvSpPr/>
          <p:nvPr/>
        </p:nvSpPr>
        <p:spPr>
          <a:xfrm>
            <a:off x="548640" y="1600200"/>
            <a:ext cx="11091672" cy="1234440"/>
          </a:xfrm>
          <a:prstGeom prst="roundRect">
            <a:avLst>
              <a:gd name="adj" fmla="val 4444"/>
            </a:avLst>
          </a:prstGeom>
          <a:solidFill>
            <a:srgbClr val="EAF4EE"/>
          </a:solidFill>
          <a:ln/>
        </p:spPr>
      </p:sp>
      <p:sp>
        <p:nvSpPr>
          <p:cNvPr id="36" name="Text 28"/>
          <p:cNvSpPr/>
          <p:nvPr/>
        </p:nvSpPr>
        <p:spPr>
          <a:xfrm>
            <a:off x="868680" y="1737360"/>
            <a:ext cx="10424160" cy="960120"/>
          </a:xfrm>
          <a:prstGeom prst="rect">
            <a:avLst/>
          </a:prstGeom>
          <a:noFill/>
          <a:ln/>
        </p:spPr>
        <p:txBody>
          <a:bodyPr wrap="square" lIns="0" tIns="0" rIns="0" bIns="0" rtlCol="0" anchor="ctr"/>
          <a:lstStyle/>
          <a:p>
            <a:pPr marL="0" indent="0">
              <a:buNone/>
            </a:pPr>
            <a:r>
              <a:rPr lang="en-US" sz="1300" i="1" dirty="0">
                <a:solidFill>
                  <a:srgbClr val="1B2B22"/>
                </a:solidFill>
                <a:latin typeface="Calibri" pitchFamily="34" charset="0"/>
                <a:ea typeface="Calibri" pitchFamily="34" charset="-122"/>
                <a:cs typeface="Calibri" pitchFamily="34" charset="-120"/>
              </a:rPr>
              <a:t>From raw transactional records to boardroom-ready recommendations — a six-stage pipeline that turns operational exhaust into a decision-making tool leadership can trust.</a:t>
            </a:r>
            <a:endParaRPr lang="en-US" sz="1300" dirty="0"/>
          </a:p>
        </p:txBody>
      </p:sp>
      <p:sp>
        <p:nvSpPr>
          <p:cNvPr id="37" name="Text 2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38" name="Text 3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THE TOOLSET</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Dashboard Overview</a:t>
            </a:r>
            <a:endParaRPr lang="en-US" sz="3000" dirty="0"/>
          </a:p>
        </p:txBody>
      </p:sp>
      <p:sp>
        <p:nvSpPr>
          <p:cNvPr id="4" name="Shape 2"/>
          <p:cNvSpPr/>
          <p:nvPr/>
        </p:nvSpPr>
        <p:spPr>
          <a:xfrm>
            <a:off x="548640" y="1645920"/>
            <a:ext cx="3639312" cy="4251960"/>
          </a:xfrm>
          <a:prstGeom prst="roundRect">
            <a:avLst>
              <a:gd name="adj" fmla="val 1508"/>
            </a:avLst>
          </a:prstGeom>
          <a:solidFill>
            <a:srgbClr val="FFFFFF"/>
          </a:solidFill>
          <a:ln w="12700">
            <a:solidFill>
              <a:srgbClr val="C9DED2"/>
            </a:solidFill>
            <a:prstDash val="solid"/>
          </a:ln>
        </p:spPr>
      </p:sp>
      <p:pic>
        <p:nvPicPr>
          <p:cNvPr id="5" name="Image 0" descr="/home/claude/assets/dash_factor.png"/>
          <p:cNvPicPr>
            <a:picLocks noChangeAspect="1"/>
          </p:cNvPicPr>
          <p:nvPr/>
        </p:nvPicPr>
        <p:blipFill>
          <a:blip r:embed="rId3"/>
          <a:stretch>
            <a:fillRect/>
          </a:stretch>
        </p:blipFill>
        <p:spPr>
          <a:xfrm>
            <a:off x="658368" y="1755648"/>
            <a:ext cx="3419856" cy="1665356"/>
          </a:xfrm>
          <a:prstGeom prst="rect">
            <a:avLst/>
          </a:prstGeom>
        </p:spPr>
      </p:pic>
      <p:sp>
        <p:nvSpPr>
          <p:cNvPr id="6" name="Text 3"/>
          <p:cNvSpPr/>
          <p:nvPr/>
        </p:nvSpPr>
        <p:spPr>
          <a:xfrm>
            <a:off x="749808" y="4160520"/>
            <a:ext cx="3236976" cy="41148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Downtime Factor Overview</a:t>
            </a:r>
            <a:endParaRPr lang="en-US" sz="1450" dirty="0"/>
          </a:p>
        </p:txBody>
      </p:sp>
      <p:sp>
        <p:nvSpPr>
          <p:cNvPr id="7" name="Text 4"/>
          <p:cNvSpPr/>
          <p:nvPr/>
        </p:nvSpPr>
        <p:spPr>
          <a:xfrm>
            <a:off x="749808" y="4572000"/>
            <a:ext cx="3236976" cy="1188720"/>
          </a:xfrm>
          <a:prstGeom prst="rect">
            <a:avLst/>
          </a:prstGeom>
          <a:noFill/>
          <a:ln/>
        </p:spPr>
        <p:txBody>
          <a:bodyPr wrap="square" lIns="0" tIns="0" rIns="0" bIns="0" rtlCol="0" anchor="ctr"/>
          <a:lstStyle/>
          <a:p>
            <a:pPr marL="0" indent="0">
              <a:lnSpc>
                <a:spcPct val="120000"/>
              </a:lnSpc>
              <a:buNone/>
            </a:pPr>
            <a:r>
              <a:rPr lang="en-US" sz="1100" dirty="0">
                <a:solidFill>
                  <a:srgbClr val="1B2B22"/>
                </a:solidFill>
                <a:latin typeface="Calibri" pitchFamily="34" charset="0"/>
                <a:ea typeface="Calibri" pitchFamily="34" charset="-122"/>
                <a:cs typeface="Calibri" pitchFamily="34" charset="-120"/>
              </a:rPr>
              <a:t>Highlights the biggest downtime drivers by category and product.</a:t>
            </a:r>
            <a:endParaRPr lang="en-US" sz="1100" dirty="0"/>
          </a:p>
        </p:txBody>
      </p:sp>
      <p:sp>
        <p:nvSpPr>
          <p:cNvPr id="8" name="Shape 5"/>
          <p:cNvSpPr/>
          <p:nvPr/>
        </p:nvSpPr>
        <p:spPr>
          <a:xfrm>
            <a:off x="4357116" y="1645920"/>
            <a:ext cx="3639312" cy="4251960"/>
          </a:xfrm>
          <a:prstGeom prst="roundRect">
            <a:avLst>
              <a:gd name="adj" fmla="val 1508"/>
            </a:avLst>
          </a:prstGeom>
          <a:solidFill>
            <a:srgbClr val="FFFFFF"/>
          </a:solidFill>
          <a:ln w="12700">
            <a:solidFill>
              <a:srgbClr val="C9DED2"/>
            </a:solidFill>
            <a:prstDash val="solid"/>
          </a:ln>
        </p:spPr>
      </p:sp>
      <p:pic>
        <p:nvPicPr>
          <p:cNvPr id="9" name="Image 1" descr="/home/claude/assets/dash_duration.png"/>
          <p:cNvPicPr>
            <a:picLocks noChangeAspect="1"/>
          </p:cNvPicPr>
          <p:nvPr/>
        </p:nvPicPr>
        <p:blipFill>
          <a:blip r:embed="rId4"/>
          <a:stretch>
            <a:fillRect/>
          </a:stretch>
        </p:blipFill>
        <p:spPr>
          <a:xfrm>
            <a:off x="4466844" y="1755648"/>
            <a:ext cx="3419856" cy="1665356"/>
          </a:xfrm>
          <a:prstGeom prst="rect">
            <a:avLst/>
          </a:prstGeom>
        </p:spPr>
      </p:pic>
      <p:sp>
        <p:nvSpPr>
          <p:cNvPr id="10" name="Text 6"/>
          <p:cNvSpPr/>
          <p:nvPr/>
        </p:nvSpPr>
        <p:spPr>
          <a:xfrm>
            <a:off x="4558284" y="4160520"/>
            <a:ext cx="3236976" cy="41148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Duration Analysis</a:t>
            </a:r>
            <a:endParaRPr lang="en-US" sz="1450" dirty="0"/>
          </a:p>
        </p:txBody>
      </p:sp>
      <p:sp>
        <p:nvSpPr>
          <p:cNvPr id="11" name="Text 7"/>
          <p:cNvSpPr/>
          <p:nvPr/>
        </p:nvSpPr>
        <p:spPr>
          <a:xfrm>
            <a:off x="4558284" y="4572000"/>
            <a:ext cx="3236976" cy="1188720"/>
          </a:xfrm>
          <a:prstGeom prst="rect">
            <a:avLst/>
          </a:prstGeom>
          <a:noFill/>
          <a:ln/>
        </p:spPr>
        <p:txBody>
          <a:bodyPr wrap="square" lIns="0" tIns="0" rIns="0" bIns="0" rtlCol="0" anchor="ctr"/>
          <a:lstStyle/>
          <a:p>
            <a:pPr marL="0" indent="0">
              <a:lnSpc>
                <a:spcPct val="120000"/>
              </a:lnSpc>
              <a:buNone/>
            </a:pPr>
            <a:r>
              <a:rPr lang="en-US" sz="1100" dirty="0">
                <a:solidFill>
                  <a:srgbClr val="1B2B22"/>
                </a:solidFill>
                <a:latin typeface="Calibri" pitchFamily="34" charset="0"/>
                <a:ea typeface="Calibri" pitchFamily="34" charset="-122"/>
                <a:cs typeface="Calibri" pitchFamily="34" charset="-120"/>
              </a:rPr>
              <a:t>Tracks production delays and downtime duration trends over time.</a:t>
            </a:r>
            <a:endParaRPr lang="en-US" sz="1100" dirty="0"/>
          </a:p>
        </p:txBody>
      </p:sp>
      <p:sp>
        <p:nvSpPr>
          <p:cNvPr id="12" name="Shape 8"/>
          <p:cNvSpPr/>
          <p:nvPr/>
        </p:nvSpPr>
        <p:spPr>
          <a:xfrm>
            <a:off x="8165592" y="1645920"/>
            <a:ext cx="3639312" cy="4251960"/>
          </a:xfrm>
          <a:prstGeom prst="roundRect">
            <a:avLst>
              <a:gd name="adj" fmla="val 1508"/>
            </a:avLst>
          </a:prstGeom>
          <a:solidFill>
            <a:srgbClr val="FFFFFF"/>
          </a:solidFill>
          <a:ln w="12700">
            <a:solidFill>
              <a:srgbClr val="C9DED2"/>
            </a:solidFill>
            <a:prstDash val="solid"/>
          </a:ln>
        </p:spPr>
      </p:sp>
      <p:pic>
        <p:nvPicPr>
          <p:cNvPr id="13" name="Image 2" descr="/home/claude/assets/dash_operator.png"/>
          <p:cNvPicPr>
            <a:picLocks noChangeAspect="1"/>
          </p:cNvPicPr>
          <p:nvPr/>
        </p:nvPicPr>
        <p:blipFill>
          <a:blip r:embed="rId5"/>
          <a:stretch>
            <a:fillRect/>
          </a:stretch>
        </p:blipFill>
        <p:spPr>
          <a:xfrm>
            <a:off x="8275320" y="1755648"/>
            <a:ext cx="3419856" cy="1665356"/>
          </a:xfrm>
          <a:prstGeom prst="rect">
            <a:avLst/>
          </a:prstGeom>
        </p:spPr>
      </p:pic>
      <p:sp>
        <p:nvSpPr>
          <p:cNvPr id="14" name="Text 9"/>
          <p:cNvSpPr/>
          <p:nvPr/>
        </p:nvSpPr>
        <p:spPr>
          <a:xfrm>
            <a:off x="8366760" y="4160520"/>
            <a:ext cx="3236976" cy="41148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Operator Scheduling</a:t>
            </a:r>
            <a:endParaRPr lang="en-US" sz="1450" dirty="0"/>
          </a:p>
        </p:txBody>
      </p:sp>
      <p:sp>
        <p:nvSpPr>
          <p:cNvPr id="15" name="Text 10"/>
          <p:cNvSpPr/>
          <p:nvPr/>
        </p:nvSpPr>
        <p:spPr>
          <a:xfrm>
            <a:off x="8366760" y="4572000"/>
            <a:ext cx="3236976" cy="1188720"/>
          </a:xfrm>
          <a:prstGeom prst="rect">
            <a:avLst/>
          </a:prstGeom>
          <a:noFill/>
          <a:ln/>
        </p:spPr>
        <p:txBody>
          <a:bodyPr wrap="square" lIns="0" tIns="0" rIns="0" bIns="0" rtlCol="0" anchor="ctr"/>
          <a:lstStyle/>
          <a:p>
            <a:pPr marL="0" indent="0">
              <a:lnSpc>
                <a:spcPct val="120000"/>
              </a:lnSpc>
              <a:buNone/>
            </a:pPr>
            <a:r>
              <a:rPr lang="en-US" sz="1100" dirty="0">
                <a:solidFill>
                  <a:srgbClr val="1B2B22"/>
                </a:solidFill>
                <a:latin typeface="Calibri" pitchFamily="34" charset="0"/>
                <a:ea typeface="Calibri" pitchFamily="34" charset="-122"/>
                <a:cs typeface="Calibri" pitchFamily="34" charset="-120"/>
              </a:rPr>
              <a:t>Evaluates operator workload distribution and scheduling effectiveness.</a:t>
            </a:r>
            <a:endParaRPr lang="en-US" sz="1100" dirty="0"/>
          </a:p>
        </p:txBody>
      </p:sp>
      <p:sp>
        <p:nvSpPr>
          <p:cNvPr id="16" name="Text 11"/>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7" name="Text 12"/>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THE NUMBERS</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Key Findings</a:t>
            </a:r>
            <a:endParaRPr lang="en-US" sz="3000" dirty="0"/>
          </a:p>
        </p:txBody>
      </p:sp>
      <p:sp>
        <p:nvSpPr>
          <p:cNvPr id="4" name="Shape 2"/>
          <p:cNvSpPr/>
          <p:nvPr/>
        </p:nvSpPr>
        <p:spPr>
          <a:xfrm>
            <a:off x="548640" y="1737360"/>
            <a:ext cx="3520440" cy="1965960"/>
          </a:xfrm>
          <a:prstGeom prst="roundRect">
            <a:avLst>
              <a:gd name="adj" fmla="val 3256"/>
            </a:avLst>
          </a:prstGeom>
          <a:solidFill>
            <a:srgbClr val="EAF4EE"/>
          </a:solidFill>
          <a:ln w="12700">
            <a:solidFill>
              <a:srgbClr val="C9DED2"/>
            </a:solidFill>
            <a:prstDash val="solid"/>
          </a:ln>
        </p:spPr>
      </p:sp>
      <p:sp>
        <p:nvSpPr>
          <p:cNvPr id="5" name="Text 3"/>
          <p:cNvSpPr/>
          <p:nvPr/>
        </p:nvSpPr>
        <p:spPr>
          <a:xfrm>
            <a:off x="685800" y="1847088"/>
            <a:ext cx="3246120" cy="1081278"/>
          </a:xfrm>
          <a:prstGeom prst="rect">
            <a:avLst/>
          </a:prstGeom>
          <a:noFill/>
          <a:ln/>
        </p:spPr>
        <p:txBody>
          <a:bodyPr wrap="square" lIns="0" tIns="0" rIns="0" bIns="0" rtlCol="0" anchor="b"/>
          <a:lstStyle/>
          <a:p>
            <a:pPr marL="0" indent="0" algn="ctr">
              <a:buNone/>
            </a:pPr>
            <a:r>
              <a:rPr lang="en-US" sz="4000" b="1" dirty="0">
                <a:solidFill>
                  <a:srgbClr val="2D6A4F"/>
                </a:solidFill>
                <a:latin typeface="Cambria" pitchFamily="34" charset="0"/>
                <a:ea typeface="Cambria" pitchFamily="34" charset="-122"/>
                <a:cs typeface="Cambria" pitchFamily="34" charset="-120"/>
              </a:rPr>
              <a:t>645</a:t>
            </a:r>
            <a:endParaRPr lang="en-US" sz="4000" dirty="0"/>
          </a:p>
        </p:txBody>
      </p:sp>
      <p:sp>
        <p:nvSpPr>
          <p:cNvPr id="6" name="Text 4"/>
          <p:cNvSpPr/>
          <p:nvPr/>
        </p:nvSpPr>
        <p:spPr>
          <a:xfrm>
            <a:off x="640080" y="291693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BATCHES PRODUCED</a:t>
            </a:r>
            <a:endParaRPr lang="en-US" sz="1100" dirty="0"/>
          </a:p>
        </p:txBody>
      </p:sp>
      <p:sp>
        <p:nvSpPr>
          <p:cNvPr id="7" name="Shape 5"/>
          <p:cNvSpPr/>
          <p:nvPr/>
        </p:nvSpPr>
        <p:spPr>
          <a:xfrm>
            <a:off x="4251960" y="1737360"/>
            <a:ext cx="3520440" cy="1965960"/>
          </a:xfrm>
          <a:prstGeom prst="roundRect">
            <a:avLst>
              <a:gd name="adj" fmla="val 3256"/>
            </a:avLst>
          </a:prstGeom>
          <a:solidFill>
            <a:srgbClr val="DCEEE2"/>
          </a:solidFill>
          <a:ln w="12700">
            <a:solidFill>
              <a:srgbClr val="E3A63E"/>
            </a:solidFill>
            <a:prstDash val="solid"/>
          </a:ln>
        </p:spPr>
      </p:sp>
      <p:sp>
        <p:nvSpPr>
          <p:cNvPr id="8" name="Text 6"/>
          <p:cNvSpPr/>
          <p:nvPr/>
        </p:nvSpPr>
        <p:spPr>
          <a:xfrm>
            <a:off x="4389120" y="1847088"/>
            <a:ext cx="3246120" cy="1081278"/>
          </a:xfrm>
          <a:prstGeom prst="rect">
            <a:avLst/>
          </a:prstGeom>
          <a:noFill/>
          <a:ln/>
        </p:spPr>
        <p:txBody>
          <a:bodyPr wrap="square" lIns="0" tIns="0" rIns="0" bIns="0" rtlCol="0" anchor="b"/>
          <a:lstStyle/>
          <a:p>
            <a:pPr marL="0" indent="0" algn="ctr">
              <a:buNone/>
            </a:pPr>
            <a:r>
              <a:rPr lang="en-US" sz="4000" b="1" dirty="0">
                <a:solidFill>
                  <a:srgbClr val="E3A63E"/>
                </a:solidFill>
                <a:latin typeface="Cambria" pitchFamily="34" charset="0"/>
                <a:ea typeface="Cambria" pitchFamily="34" charset="-122"/>
                <a:cs typeface="Cambria" pitchFamily="34" charset="-120"/>
              </a:rPr>
              <a:t>363</a:t>
            </a:r>
            <a:endParaRPr lang="en-US" sz="4000" dirty="0"/>
          </a:p>
        </p:txBody>
      </p:sp>
      <p:sp>
        <p:nvSpPr>
          <p:cNvPr id="9" name="Text 7"/>
          <p:cNvSpPr/>
          <p:nvPr/>
        </p:nvSpPr>
        <p:spPr>
          <a:xfrm>
            <a:off x="4343400" y="291693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DELAYED BATCHES</a:t>
            </a:r>
            <a:endParaRPr lang="en-US" sz="1100" dirty="0"/>
          </a:p>
        </p:txBody>
      </p:sp>
      <p:sp>
        <p:nvSpPr>
          <p:cNvPr id="10" name="Shape 8"/>
          <p:cNvSpPr/>
          <p:nvPr/>
        </p:nvSpPr>
        <p:spPr>
          <a:xfrm>
            <a:off x="7955280" y="1737360"/>
            <a:ext cx="3520440" cy="1965960"/>
          </a:xfrm>
          <a:prstGeom prst="roundRect">
            <a:avLst>
              <a:gd name="adj" fmla="val 3256"/>
            </a:avLst>
          </a:prstGeom>
          <a:solidFill>
            <a:srgbClr val="EAF4EE"/>
          </a:solidFill>
          <a:ln w="12700">
            <a:solidFill>
              <a:srgbClr val="C9DED2"/>
            </a:solidFill>
            <a:prstDash val="solid"/>
          </a:ln>
        </p:spPr>
      </p:sp>
      <p:sp>
        <p:nvSpPr>
          <p:cNvPr id="11" name="Text 9"/>
          <p:cNvSpPr/>
          <p:nvPr/>
        </p:nvSpPr>
        <p:spPr>
          <a:xfrm>
            <a:off x="8092440" y="1847088"/>
            <a:ext cx="3246120" cy="1081278"/>
          </a:xfrm>
          <a:prstGeom prst="rect">
            <a:avLst/>
          </a:prstGeom>
          <a:noFill/>
          <a:ln/>
        </p:spPr>
        <p:txBody>
          <a:bodyPr wrap="square" lIns="0" tIns="0" rIns="0" bIns="0" rtlCol="0" anchor="b"/>
          <a:lstStyle/>
          <a:p>
            <a:pPr marL="0" indent="0" algn="ctr">
              <a:buNone/>
            </a:pPr>
            <a:r>
              <a:rPr lang="en-US" sz="4000" b="1" dirty="0">
                <a:solidFill>
                  <a:srgbClr val="2D6A4F"/>
                </a:solidFill>
                <a:latin typeface="Cambria" pitchFamily="34" charset="0"/>
                <a:ea typeface="Cambria" pitchFamily="34" charset="-122"/>
                <a:cs typeface="Cambria" pitchFamily="34" charset="-120"/>
              </a:rPr>
              <a:t>21.74</a:t>
            </a:r>
            <a:endParaRPr lang="en-US" sz="4000" dirty="0"/>
          </a:p>
        </p:txBody>
      </p:sp>
      <p:sp>
        <p:nvSpPr>
          <p:cNvPr id="12" name="Text 10"/>
          <p:cNvSpPr/>
          <p:nvPr/>
        </p:nvSpPr>
        <p:spPr>
          <a:xfrm>
            <a:off x="8046720" y="291693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DAYS LOST</a:t>
            </a:r>
            <a:endParaRPr lang="en-US" sz="1100" dirty="0"/>
          </a:p>
        </p:txBody>
      </p:sp>
      <p:sp>
        <p:nvSpPr>
          <p:cNvPr id="13" name="Shape 11"/>
          <p:cNvSpPr/>
          <p:nvPr/>
        </p:nvSpPr>
        <p:spPr>
          <a:xfrm>
            <a:off x="548640" y="3931920"/>
            <a:ext cx="3520440" cy="1965960"/>
          </a:xfrm>
          <a:prstGeom prst="roundRect">
            <a:avLst>
              <a:gd name="adj" fmla="val 3256"/>
            </a:avLst>
          </a:prstGeom>
          <a:solidFill>
            <a:srgbClr val="EAF4EE"/>
          </a:solidFill>
          <a:ln w="12700">
            <a:solidFill>
              <a:srgbClr val="C9DED2"/>
            </a:solidFill>
            <a:prstDash val="solid"/>
          </a:ln>
        </p:spPr>
      </p:sp>
      <p:sp>
        <p:nvSpPr>
          <p:cNvPr id="14" name="Text 12"/>
          <p:cNvSpPr/>
          <p:nvPr/>
        </p:nvSpPr>
        <p:spPr>
          <a:xfrm>
            <a:off x="685800" y="4041648"/>
            <a:ext cx="3246120" cy="1081278"/>
          </a:xfrm>
          <a:prstGeom prst="rect">
            <a:avLst/>
          </a:prstGeom>
          <a:noFill/>
          <a:ln/>
        </p:spPr>
        <p:txBody>
          <a:bodyPr wrap="square" lIns="0" tIns="0" rIns="0" bIns="0" rtlCol="0" anchor="b"/>
          <a:lstStyle/>
          <a:p>
            <a:pPr marL="0" indent="0" algn="ctr">
              <a:buNone/>
            </a:pPr>
            <a:r>
              <a:rPr lang="en-US" sz="4000" b="1" dirty="0">
                <a:solidFill>
                  <a:srgbClr val="2D6A4F"/>
                </a:solidFill>
                <a:latin typeface="Cambria" pitchFamily="34" charset="0"/>
                <a:ea typeface="Cambria" pitchFamily="34" charset="-122"/>
                <a:cs typeface="Cambria" pitchFamily="34" charset="-120"/>
              </a:rPr>
              <a:t>885</a:t>
            </a:r>
            <a:endParaRPr lang="en-US" sz="4000" dirty="0"/>
          </a:p>
        </p:txBody>
      </p:sp>
      <p:sp>
        <p:nvSpPr>
          <p:cNvPr id="15" name="Text 13"/>
          <p:cNvSpPr/>
          <p:nvPr/>
        </p:nvSpPr>
        <p:spPr>
          <a:xfrm>
            <a:off x="640080" y="511149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DOWNTIME FACTORS</a:t>
            </a:r>
            <a:endParaRPr lang="en-US" sz="1100" dirty="0"/>
          </a:p>
        </p:txBody>
      </p:sp>
      <p:sp>
        <p:nvSpPr>
          <p:cNvPr id="16" name="Shape 14"/>
          <p:cNvSpPr/>
          <p:nvPr/>
        </p:nvSpPr>
        <p:spPr>
          <a:xfrm>
            <a:off x="4251960" y="3931920"/>
            <a:ext cx="3520440" cy="1965960"/>
          </a:xfrm>
          <a:prstGeom prst="roundRect">
            <a:avLst>
              <a:gd name="adj" fmla="val 3256"/>
            </a:avLst>
          </a:prstGeom>
          <a:solidFill>
            <a:srgbClr val="EAF4EE"/>
          </a:solidFill>
          <a:ln w="12700">
            <a:solidFill>
              <a:srgbClr val="C9DED2"/>
            </a:solidFill>
            <a:prstDash val="solid"/>
          </a:ln>
        </p:spPr>
      </p:sp>
      <p:sp>
        <p:nvSpPr>
          <p:cNvPr id="17" name="Text 15"/>
          <p:cNvSpPr/>
          <p:nvPr/>
        </p:nvSpPr>
        <p:spPr>
          <a:xfrm>
            <a:off x="4389120" y="4041648"/>
            <a:ext cx="3246120" cy="1081278"/>
          </a:xfrm>
          <a:prstGeom prst="rect">
            <a:avLst/>
          </a:prstGeom>
          <a:noFill/>
          <a:ln/>
        </p:spPr>
        <p:txBody>
          <a:bodyPr wrap="square" lIns="0" tIns="0" rIns="0" bIns="0" rtlCol="0" anchor="b"/>
          <a:lstStyle/>
          <a:p>
            <a:pPr marL="0" indent="0" algn="ctr">
              <a:buNone/>
            </a:pPr>
            <a:r>
              <a:rPr lang="en-US" sz="4000" b="1" dirty="0">
                <a:solidFill>
                  <a:srgbClr val="2D6A4F"/>
                </a:solidFill>
                <a:latin typeface="Cambria" pitchFamily="34" charset="0"/>
                <a:ea typeface="Cambria" pitchFamily="34" charset="-122"/>
                <a:cs typeface="Cambria" pitchFamily="34" charset="-120"/>
              </a:rPr>
              <a:t>13</a:t>
            </a:r>
            <a:endParaRPr lang="en-US" sz="4000" dirty="0"/>
          </a:p>
        </p:txBody>
      </p:sp>
      <p:sp>
        <p:nvSpPr>
          <p:cNvPr id="18" name="Text 16"/>
          <p:cNvSpPr/>
          <p:nvPr/>
        </p:nvSpPr>
        <p:spPr>
          <a:xfrm>
            <a:off x="4343400" y="511149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DISTINCT FACTORS</a:t>
            </a:r>
            <a:endParaRPr lang="en-US" sz="1100" dirty="0"/>
          </a:p>
        </p:txBody>
      </p:sp>
      <p:sp>
        <p:nvSpPr>
          <p:cNvPr id="19" name="Shape 17"/>
          <p:cNvSpPr/>
          <p:nvPr/>
        </p:nvSpPr>
        <p:spPr>
          <a:xfrm>
            <a:off x="7955280" y="3931920"/>
            <a:ext cx="3520440" cy="1965960"/>
          </a:xfrm>
          <a:prstGeom prst="roundRect">
            <a:avLst>
              <a:gd name="adj" fmla="val 3256"/>
            </a:avLst>
          </a:prstGeom>
          <a:solidFill>
            <a:srgbClr val="EAF4EE"/>
          </a:solidFill>
          <a:ln w="12700">
            <a:solidFill>
              <a:srgbClr val="C9DED2"/>
            </a:solidFill>
            <a:prstDash val="solid"/>
          </a:ln>
        </p:spPr>
      </p:sp>
      <p:sp>
        <p:nvSpPr>
          <p:cNvPr id="20" name="Text 18"/>
          <p:cNvSpPr/>
          <p:nvPr/>
        </p:nvSpPr>
        <p:spPr>
          <a:xfrm>
            <a:off x="8092440" y="4041648"/>
            <a:ext cx="3246120" cy="1081278"/>
          </a:xfrm>
          <a:prstGeom prst="rect">
            <a:avLst/>
          </a:prstGeom>
          <a:noFill/>
          <a:ln/>
        </p:spPr>
        <p:txBody>
          <a:bodyPr wrap="square" lIns="0" tIns="0" rIns="0" bIns="0" rtlCol="0" anchor="b"/>
          <a:lstStyle/>
          <a:p>
            <a:pPr marL="0" indent="0" algn="ctr">
              <a:buNone/>
            </a:pPr>
            <a:r>
              <a:rPr lang="en-US" sz="4000" b="1" dirty="0">
                <a:solidFill>
                  <a:srgbClr val="2D6A4F"/>
                </a:solidFill>
                <a:latin typeface="Cambria" pitchFamily="34" charset="0"/>
                <a:ea typeface="Cambria" pitchFamily="34" charset="-122"/>
                <a:cs typeface="Cambria" pitchFamily="34" charset="-120"/>
              </a:rPr>
              <a:t>4</a:t>
            </a:r>
            <a:endParaRPr lang="en-US" sz="4000" dirty="0"/>
          </a:p>
        </p:txBody>
      </p:sp>
      <p:sp>
        <p:nvSpPr>
          <p:cNvPr id="21" name="Text 19"/>
          <p:cNvSpPr/>
          <p:nvPr/>
        </p:nvSpPr>
        <p:spPr>
          <a:xfrm>
            <a:off x="8046720" y="5111496"/>
            <a:ext cx="3337560" cy="747065"/>
          </a:xfrm>
          <a:prstGeom prst="rect">
            <a:avLst/>
          </a:prstGeom>
          <a:noFill/>
          <a:ln/>
        </p:spPr>
        <p:txBody>
          <a:bodyPr wrap="square" lIns="0" tIns="0" rIns="0" bIns="0" rtlCol="0" anchor="t"/>
          <a:lstStyle/>
          <a:p>
            <a:pPr marL="0" indent="0" algn="ctr">
              <a:buNone/>
            </a:pPr>
            <a:r>
              <a:rPr lang="en-US" sz="1100" dirty="0">
                <a:solidFill>
                  <a:srgbClr val="5B7B6A"/>
                </a:solidFill>
                <a:latin typeface="Calibri" pitchFamily="34" charset="0"/>
                <a:ea typeface="Calibri" pitchFamily="34" charset="-122"/>
                <a:cs typeface="Calibri" pitchFamily="34" charset="-120"/>
              </a:rPr>
              <a:t>MAX DOWNTIMES / BATCH</a:t>
            </a:r>
            <a:endParaRPr lang="en-US" sz="110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23"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ROOT CAUSE</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Downtime Factor Analysis</a:t>
            </a:r>
            <a:endParaRPr lang="en-US" sz="3000" dirty="0"/>
          </a:p>
        </p:txBody>
      </p:sp>
      <p:graphicFrame>
        <p:nvGraphicFramePr>
          <p:cNvPr id="4" name="Chart 0"/>
          <p:cNvGraphicFramePr/>
          <p:nvPr/>
        </p:nvGraphicFramePr>
        <p:xfrm>
          <a:off x="457200" y="1645920"/>
          <a:ext cx="63093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12280" y="1600200"/>
            <a:ext cx="2560320" cy="1417320"/>
          </a:xfrm>
          <a:prstGeom prst="roundRect">
            <a:avLst>
              <a:gd name="adj" fmla="val 4516"/>
            </a:avLst>
          </a:prstGeom>
          <a:solidFill>
            <a:srgbClr val="FFFFFF"/>
          </a:solidFill>
          <a:ln w="12700">
            <a:solidFill>
              <a:srgbClr val="C9DED2"/>
            </a:solidFill>
            <a:prstDash val="solid"/>
          </a:ln>
        </p:spPr>
      </p:sp>
      <p:sp>
        <p:nvSpPr>
          <p:cNvPr id="6" name="Text 3"/>
          <p:cNvSpPr/>
          <p:nvPr/>
        </p:nvSpPr>
        <p:spPr>
          <a:xfrm>
            <a:off x="7086600" y="1691640"/>
            <a:ext cx="2011680" cy="685800"/>
          </a:xfrm>
          <a:prstGeom prst="rect">
            <a:avLst/>
          </a:prstGeom>
          <a:noFill/>
          <a:ln/>
        </p:spPr>
        <p:txBody>
          <a:bodyPr wrap="square" lIns="0" tIns="0" rIns="0" bIns="0" rtlCol="0" anchor="ctr"/>
          <a:lstStyle/>
          <a:p>
            <a:pPr marL="0" indent="0" algn="ctr">
              <a:buNone/>
            </a:pPr>
            <a:r>
              <a:rPr lang="en-US" sz="3400" b="1" dirty="0">
                <a:solidFill>
                  <a:srgbClr val="2D6A4F"/>
                </a:solidFill>
                <a:latin typeface="Cambria" pitchFamily="34" charset="0"/>
                <a:ea typeface="Cambria" pitchFamily="34" charset="-122"/>
                <a:cs typeface="Cambria" pitchFamily="34" charset="-120"/>
              </a:rPr>
              <a:t>69%</a:t>
            </a:r>
            <a:endParaRPr lang="en-US" sz="3400" dirty="0"/>
          </a:p>
        </p:txBody>
      </p:sp>
      <p:sp>
        <p:nvSpPr>
          <p:cNvPr id="7" name="Text 4"/>
          <p:cNvSpPr/>
          <p:nvPr/>
        </p:nvSpPr>
        <p:spPr>
          <a:xfrm>
            <a:off x="6903720" y="2331720"/>
            <a:ext cx="2377440" cy="640080"/>
          </a:xfrm>
          <a:prstGeom prst="rect">
            <a:avLst/>
          </a:prstGeom>
          <a:noFill/>
          <a:ln/>
        </p:spPr>
        <p:txBody>
          <a:bodyPr wrap="square" lIns="0" tIns="0" rIns="0" bIns="0" rtlCol="0" anchor="ctr"/>
          <a:lstStyle/>
          <a:p>
            <a:pPr marL="0" indent="0" algn="ctr">
              <a:buNone/>
            </a:pPr>
            <a:r>
              <a:rPr lang="en-US" sz="1050" dirty="0">
                <a:solidFill>
                  <a:srgbClr val="5B7B6A"/>
                </a:solidFill>
                <a:latin typeface="Calibri" pitchFamily="34" charset="0"/>
                <a:ea typeface="Calibri" pitchFamily="34" charset="-122"/>
                <a:cs typeface="Calibri" pitchFamily="34" charset="-120"/>
              </a:rPr>
              <a:t>of downtime is</a:t>
            </a:r>
            <a:endParaRPr lang="en-US" sz="1050" dirty="0"/>
          </a:p>
          <a:p>
            <a:pPr marL="0" indent="0" algn="ctr">
              <a:buNone/>
            </a:pPr>
            <a:r>
              <a:rPr lang="en-US" sz="1050" dirty="0">
                <a:solidFill>
                  <a:srgbClr val="5B7B6A"/>
                </a:solidFill>
                <a:latin typeface="Calibri" pitchFamily="34" charset="0"/>
                <a:ea typeface="Calibri" pitchFamily="34" charset="-122"/>
                <a:cs typeface="Calibri" pitchFamily="34" charset="-120"/>
              </a:rPr>
              <a:t>non-operator (process/system)</a:t>
            </a:r>
            <a:endParaRPr lang="en-US" sz="1050" dirty="0"/>
          </a:p>
        </p:txBody>
      </p:sp>
      <p:graphicFrame>
        <p:nvGraphicFramePr>
          <p:cNvPr id="8" name="Chart 1"/>
          <p:cNvGraphicFramePr/>
          <p:nvPr/>
        </p:nvGraphicFramePr>
        <p:xfrm>
          <a:off x="6903720" y="3063240"/>
          <a:ext cx="237744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9464040" y="1600200"/>
            <a:ext cx="2240280" cy="3840480"/>
          </a:xfrm>
          <a:prstGeom prst="roundRect">
            <a:avLst>
              <a:gd name="adj" fmla="val 2857"/>
            </a:avLst>
          </a:prstGeom>
          <a:solidFill>
            <a:srgbClr val="EAF4EE"/>
          </a:solidFill>
          <a:ln w="12700">
            <a:solidFill>
              <a:srgbClr val="C9DED2"/>
            </a:solidFill>
            <a:prstDash val="solid"/>
          </a:ln>
        </p:spPr>
      </p:sp>
      <p:sp>
        <p:nvSpPr>
          <p:cNvPr id="10" name="Text 6"/>
          <p:cNvSpPr/>
          <p:nvPr/>
        </p:nvSpPr>
        <p:spPr>
          <a:xfrm>
            <a:off x="9646920" y="1737360"/>
            <a:ext cx="1920240" cy="274320"/>
          </a:xfrm>
          <a:prstGeom prst="rect">
            <a:avLst/>
          </a:prstGeom>
          <a:noFill/>
          <a:ln/>
        </p:spPr>
        <p:txBody>
          <a:bodyPr wrap="square" lIns="0" tIns="0" rIns="0" bIns="0" rtlCol="0" anchor="ctr"/>
          <a:lstStyle/>
          <a:p>
            <a:pPr marL="0" indent="0">
              <a:buNone/>
            </a:pPr>
            <a:r>
              <a:rPr lang="en-US" sz="1050" b="1" kern="0" spc="100" dirty="0">
                <a:solidFill>
                  <a:srgbClr val="2D6A4F"/>
                </a:solidFill>
                <a:latin typeface="Calibri" pitchFamily="34" charset="0"/>
                <a:ea typeface="Calibri" pitchFamily="34" charset="-122"/>
                <a:cs typeface="Calibri" pitchFamily="34" charset="-120"/>
              </a:rPr>
              <a:t>KEY INSIGHTS</a:t>
            </a:r>
            <a:endParaRPr lang="en-US" sz="1050" dirty="0"/>
          </a:p>
        </p:txBody>
      </p:sp>
      <p:sp>
        <p:nvSpPr>
          <p:cNvPr id="11" name="Text 7"/>
          <p:cNvSpPr/>
          <p:nvPr/>
        </p:nvSpPr>
        <p:spPr>
          <a:xfrm>
            <a:off x="9646920" y="2057400"/>
            <a:ext cx="1920240" cy="1005840"/>
          </a:xfrm>
          <a:prstGeom prst="rect">
            <a:avLst/>
          </a:prstGeom>
          <a:noFill/>
          <a:ln/>
        </p:spPr>
        <p:txBody>
          <a:bodyPr wrap="square" lIns="0" tIns="0" rIns="0" bIns="0" rtlCol="0" anchor="ctr"/>
          <a:lstStyle/>
          <a:p>
            <a:pPr marL="0" indent="0">
              <a:lnSpc>
                <a:spcPct val="115000"/>
              </a:lnSpc>
              <a:buNone/>
            </a:pPr>
            <a:r>
              <a:rPr lang="en-US" sz="1000" dirty="0">
                <a:solidFill>
                  <a:srgbClr val="1B2B22"/>
                </a:solidFill>
                <a:latin typeface="Calibri" pitchFamily="34" charset="0"/>
                <a:ea typeface="Calibri" pitchFamily="34" charset="-122"/>
                <a:cs typeface="Calibri" pitchFamily="34" charset="-120"/>
              </a:rPr>
              <a:t>•  Cleaning/sanitation is the single most frequent downtime factor.</a:t>
            </a:r>
            <a:endParaRPr lang="en-US" sz="1000" dirty="0"/>
          </a:p>
        </p:txBody>
      </p:sp>
      <p:sp>
        <p:nvSpPr>
          <p:cNvPr id="12" name="Text 8"/>
          <p:cNvSpPr/>
          <p:nvPr/>
        </p:nvSpPr>
        <p:spPr>
          <a:xfrm>
            <a:off x="9646920" y="3227832"/>
            <a:ext cx="1920240" cy="1005840"/>
          </a:xfrm>
          <a:prstGeom prst="rect">
            <a:avLst/>
          </a:prstGeom>
          <a:noFill/>
          <a:ln/>
        </p:spPr>
        <p:txBody>
          <a:bodyPr wrap="square" lIns="0" tIns="0" rIns="0" bIns="0" rtlCol="0" anchor="ctr"/>
          <a:lstStyle/>
          <a:p>
            <a:pPr marL="0" indent="0">
              <a:lnSpc>
                <a:spcPct val="115000"/>
              </a:lnSpc>
              <a:buNone/>
            </a:pPr>
            <a:r>
              <a:rPr lang="en-US" sz="1000" dirty="0">
                <a:solidFill>
                  <a:srgbClr val="1B2B22"/>
                </a:solidFill>
                <a:latin typeface="Calibri" pitchFamily="34" charset="0"/>
                <a:ea typeface="Calibri" pitchFamily="34" charset="-122"/>
                <a:cs typeface="Calibri" pitchFamily="34" charset="-120"/>
              </a:rPr>
              <a:t>•  GreenFoam Hand Soap saw the most production disruption overall.</a:t>
            </a:r>
            <a:endParaRPr lang="en-US" sz="1000" dirty="0"/>
          </a:p>
        </p:txBody>
      </p:sp>
      <p:sp>
        <p:nvSpPr>
          <p:cNvPr id="13" name="Text 9"/>
          <p:cNvSpPr/>
          <p:nvPr/>
        </p:nvSpPr>
        <p:spPr>
          <a:xfrm>
            <a:off x="9646920" y="4398264"/>
            <a:ext cx="1920240" cy="1005840"/>
          </a:xfrm>
          <a:prstGeom prst="rect">
            <a:avLst/>
          </a:prstGeom>
          <a:noFill/>
          <a:ln/>
        </p:spPr>
        <p:txBody>
          <a:bodyPr wrap="square" lIns="0" tIns="0" rIns="0" bIns="0" rtlCol="0" anchor="ctr"/>
          <a:lstStyle/>
          <a:p>
            <a:pPr marL="0" indent="0">
              <a:lnSpc>
                <a:spcPct val="115000"/>
              </a:lnSpc>
              <a:buNone/>
            </a:pPr>
            <a:r>
              <a:rPr lang="en-US" sz="1000" dirty="0">
                <a:solidFill>
                  <a:srgbClr val="1B2B22"/>
                </a:solidFill>
                <a:latin typeface="Calibri" pitchFamily="34" charset="0"/>
                <a:ea typeface="Calibri" pitchFamily="34" charset="-122"/>
                <a:cs typeface="Calibri" pitchFamily="34" charset="-120"/>
              </a:rPr>
              <a:t>•  Non-operator (process) causes dominate — a systems fix, not a people fix.</a:t>
            </a:r>
            <a:endParaRPr lang="en-US" sz="1000" dirty="0"/>
          </a:p>
        </p:txBody>
      </p:sp>
      <p:sp>
        <p:nvSpPr>
          <p:cNvPr id="14" name="Text 1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TRENDS OVER TIME</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Duration Analysis</a:t>
            </a:r>
            <a:endParaRPr lang="en-US" sz="3000" dirty="0"/>
          </a:p>
        </p:txBody>
      </p:sp>
      <p:graphicFrame>
        <p:nvGraphicFramePr>
          <p:cNvPr id="4" name="Chart 0"/>
          <p:cNvGraphicFramePr/>
          <p:nvPr/>
        </p:nvGraphicFramePr>
        <p:xfrm>
          <a:off x="457200" y="1645920"/>
          <a:ext cx="70408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5074920"/>
            <a:ext cx="7040880" cy="274320"/>
          </a:xfrm>
          <a:prstGeom prst="rect">
            <a:avLst/>
          </a:prstGeom>
          <a:noFill/>
          <a:ln/>
        </p:spPr>
        <p:txBody>
          <a:bodyPr wrap="square" lIns="0" tIns="0" rIns="0" bIns="0" rtlCol="0" anchor="ctr"/>
          <a:lstStyle/>
          <a:p>
            <a:pPr marL="0" indent="0">
              <a:buNone/>
            </a:pPr>
            <a:r>
              <a:rPr lang="en-US" sz="1100" b="1" kern="0" spc="100" dirty="0">
                <a:solidFill>
                  <a:srgbClr val="2D6A4F"/>
                </a:solidFill>
                <a:latin typeface="Calibri" pitchFamily="34" charset="0"/>
                <a:ea typeface="Calibri" pitchFamily="34" charset="-122"/>
                <a:cs typeface="Calibri" pitchFamily="34" charset="-120"/>
              </a:rPr>
              <a:t>WHAT THE TREND TELLS US</a:t>
            </a:r>
            <a:endParaRPr lang="en-US" sz="1100" dirty="0"/>
          </a:p>
        </p:txBody>
      </p:sp>
      <p:sp>
        <p:nvSpPr>
          <p:cNvPr id="6" name="Text 3"/>
          <p:cNvSpPr/>
          <p:nvPr/>
        </p:nvSpPr>
        <p:spPr>
          <a:xfrm>
            <a:off x="457200" y="5394960"/>
            <a:ext cx="3474720" cy="548640"/>
          </a:xfrm>
          <a:prstGeom prst="rect">
            <a:avLst/>
          </a:prstGeom>
          <a:noFill/>
          <a:ln/>
        </p:spPr>
        <p:txBody>
          <a:bodyPr wrap="square" lIns="0" tIns="0" rIns="0" bIns="0" rtlCol="0" anchor="ctr"/>
          <a:lstStyle/>
          <a:p>
            <a:pPr marL="0" indent="0">
              <a:lnSpc>
                <a:spcPct val="110000"/>
              </a:lnSpc>
              <a:buNone/>
            </a:pPr>
            <a:r>
              <a:rPr lang="en-US" sz="950" dirty="0">
                <a:solidFill>
                  <a:srgbClr val="1B2B22"/>
                </a:solidFill>
                <a:latin typeface="Calibri" pitchFamily="34" charset="0"/>
                <a:ea typeface="Calibri" pitchFamily="34" charset="-122"/>
                <a:cs typeface="Calibri" pitchFamily="34" charset="-120"/>
              </a:rPr>
              <a:t>•  April experienced a spike, driven by increased downtime in GreenFoam Hand Soap and RePack Recycled Packaging Film production.</a:t>
            </a:r>
            <a:endParaRPr lang="en-US" sz="950" dirty="0"/>
          </a:p>
        </p:txBody>
      </p:sp>
      <p:sp>
        <p:nvSpPr>
          <p:cNvPr id="7" name="Text 4"/>
          <p:cNvSpPr/>
          <p:nvPr/>
        </p:nvSpPr>
        <p:spPr>
          <a:xfrm>
            <a:off x="4069080" y="5394960"/>
            <a:ext cx="3474720" cy="548640"/>
          </a:xfrm>
          <a:prstGeom prst="rect">
            <a:avLst/>
          </a:prstGeom>
          <a:noFill/>
          <a:ln/>
        </p:spPr>
        <p:txBody>
          <a:bodyPr wrap="square" lIns="0" tIns="0" rIns="0" bIns="0" rtlCol="0" anchor="ctr"/>
          <a:lstStyle/>
          <a:p>
            <a:pPr marL="0" indent="0">
              <a:lnSpc>
                <a:spcPct val="110000"/>
              </a:lnSpc>
              <a:buNone/>
            </a:pPr>
            <a:r>
              <a:rPr lang="en-US" sz="950" dirty="0">
                <a:solidFill>
                  <a:srgbClr val="1B2B22"/>
                </a:solidFill>
                <a:latin typeface="Calibri" pitchFamily="34" charset="0"/>
                <a:ea typeface="Calibri" pitchFamily="34" charset="-122"/>
                <a:cs typeface="Calibri" pitchFamily="34" charset="-120"/>
              </a:rPr>
              <a:t>•  A downward trend was observed from May through July.</a:t>
            </a:r>
            <a:endParaRPr lang="en-US" sz="950" dirty="0"/>
          </a:p>
        </p:txBody>
      </p:sp>
      <p:sp>
        <p:nvSpPr>
          <p:cNvPr id="8" name="Text 5"/>
          <p:cNvSpPr/>
          <p:nvPr/>
        </p:nvSpPr>
        <p:spPr>
          <a:xfrm>
            <a:off x="457200" y="5989320"/>
            <a:ext cx="3474720" cy="548640"/>
          </a:xfrm>
          <a:prstGeom prst="rect">
            <a:avLst/>
          </a:prstGeom>
          <a:noFill/>
          <a:ln/>
        </p:spPr>
        <p:txBody>
          <a:bodyPr wrap="square" lIns="0" tIns="0" rIns="0" bIns="0" rtlCol="0" anchor="ctr"/>
          <a:lstStyle/>
          <a:p>
            <a:pPr marL="0" indent="0">
              <a:lnSpc>
                <a:spcPct val="110000"/>
              </a:lnSpc>
              <a:buNone/>
            </a:pPr>
            <a:r>
              <a:rPr lang="en-US" sz="950" dirty="0">
                <a:solidFill>
                  <a:srgbClr val="1B2B22"/>
                </a:solidFill>
                <a:latin typeface="Calibri" pitchFamily="34" charset="0"/>
                <a:ea typeface="Calibri" pitchFamily="34" charset="-122"/>
                <a:cs typeface="Calibri" pitchFamily="34" charset="-120"/>
              </a:rPr>
              <a:t>•  BioWipe Cleaning Sheets saw a consistent increase in downtime from April to July.</a:t>
            </a:r>
            <a:endParaRPr lang="en-US" sz="950" dirty="0"/>
          </a:p>
        </p:txBody>
      </p:sp>
      <p:sp>
        <p:nvSpPr>
          <p:cNvPr id="9" name="Text 6"/>
          <p:cNvSpPr/>
          <p:nvPr/>
        </p:nvSpPr>
        <p:spPr>
          <a:xfrm>
            <a:off x="4069080" y="5989320"/>
            <a:ext cx="3474720" cy="548640"/>
          </a:xfrm>
          <a:prstGeom prst="rect">
            <a:avLst/>
          </a:prstGeom>
          <a:noFill/>
          <a:ln/>
        </p:spPr>
        <p:txBody>
          <a:bodyPr wrap="square" lIns="0" tIns="0" rIns="0" bIns="0" rtlCol="0" anchor="ctr"/>
          <a:lstStyle/>
          <a:p>
            <a:pPr marL="0" indent="0">
              <a:lnSpc>
                <a:spcPct val="110000"/>
              </a:lnSpc>
              <a:buNone/>
            </a:pPr>
            <a:r>
              <a:rPr lang="en-US" sz="950" dirty="0">
                <a:solidFill>
                  <a:srgbClr val="1B2B22"/>
                </a:solidFill>
                <a:latin typeface="Calibri" pitchFamily="34" charset="0"/>
                <a:ea typeface="Calibri" pitchFamily="34" charset="-122"/>
                <a:cs typeface="Calibri" pitchFamily="34" charset="-120"/>
              </a:rPr>
              <a:t>•  August recorded a renewed high, with GreenFoam Hand Soap again spiking.</a:t>
            </a:r>
            <a:endParaRPr lang="en-US" sz="950" dirty="0"/>
          </a:p>
        </p:txBody>
      </p:sp>
      <p:sp>
        <p:nvSpPr>
          <p:cNvPr id="10" name="Shape 7"/>
          <p:cNvSpPr/>
          <p:nvPr/>
        </p:nvSpPr>
        <p:spPr>
          <a:xfrm>
            <a:off x="7772400" y="1645920"/>
            <a:ext cx="3931920" cy="4343400"/>
          </a:xfrm>
          <a:prstGeom prst="roundRect">
            <a:avLst>
              <a:gd name="adj" fmla="val 1628"/>
            </a:avLst>
          </a:prstGeom>
          <a:solidFill>
            <a:srgbClr val="EAF4EE"/>
          </a:solidFill>
          <a:ln w="12700">
            <a:solidFill>
              <a:srgbClr val="C9DED2"/>
            </a:solidFill>
            <a:prstDash val="solid"/>
          </a:ln>
        </p:spPr>
      </p:sp>
      <p:sp>
        <p:nvSpPr>
          <p:cNvPr id="11" name="Text 8"/>
          <p:cNvSpPr/>
          <p:nvPr/>
        </p:nvSpPr>
        <p:spPr>
          <a:xfrm>
            <a:off x="7955280" y="1783080"/>
            <a:ext cx="3566160" cy="274320"/>
          </a:xfrm>
          <a:prstGeom prst="rect">
            <a:avLst/>
          </a:prstGeom>
          <a:noFill/>
          <a:ln/>
        </p:spPr>
        <p:txBody>
          <a:bodyPr wrap="square" lIns="0" tIns="0" rIns="0" bIns="0" rtlCol="0" anchor="ctr"/>
          <a:lstStyle/>
          <a:p>
            <a:pPr marL="0" indent="0">
              <a:buNone/>
            </a:pPr>
            <a:r>
              <a:rPr lang="en-US" sz="1050" b="1" kern="0" spc="100" dirty="0">
                <a:solidFill>
                  <a:srgbClr val="2D6A4F"/>
                </a:solidFill>
                <a:latin typeface="Calibri" pitchFamily="34" charset="0"/>
                <a:ea typeface="Calibri" pitchFamily="34" charset="-122"/>
                <a:cs typeface="Calibri" pitchFamily="34" charset="-120"/>
              </a:rPr>
              <a:t>DASHBOARD EXHIBIT</a:t>
            </a:r>
            <a:endParaRPr lang="en-US" sz="1050" dirty="0"/>
          </a:p>
        </p:txBody>
      </p:sp>
      <p:pic>
        <p:nvPicPr>
          <p:cNvPr id="12" name="Image 0" descr="/home/claude/assets/dash_duration.png"/>
          <p:cNvPicPr>
            <a:picLocks noChangeAspect="1"/>
          </p:cNvPicPr>
          <p:nvPr/>
        </p:nvPicPr>
        <p:blipFill>
          <a:blip r:embed="rId4"/>
          <a:stretch>
            <a:fillRect/>
          </a:stretch>
        </p:blipFill>
        <p:spPr>
          <a:xfrm>
            <a:off x="7936992" y="2103120"/>
            <a:ext cx="3602736" cy="1754413"/>
          </a:xfrm>
          <a:prstGeom prst="rect">
            <a:avLst/>
          </a:prstGeom>
        </p:spPr>
      </p:pic>
      <p:sp>
        <p:nvSpPr>
          <p:cNvPr id="13" name="Text 9"/>
          <p:cNvSpPr/>
          <p:nvPr/>
        </p:nvSpPr>
        <p:spPr>
          <a:xfrm>
            <a:off x="7955280" y="4069080"/>
            <a:ext cx="3566160" cy="1737360"/>
          </a:xfrm>
          <a:prstGeom prst="rect">
            <a:avLst/>
          </a:prstGeom>
          <a:noFill/>
          <a:ln/>
        </p:spPr>
        <p:txBody>
          <a:bodyPr wrap="square" lIns="0" tIns="0" rIns="0" bIns="0" rtlCol="0" anchor="ctr"/>
          <a:lstStyle/>
          <a:p>
            <a:pPr marL="0" indent="0">
              <a:lnSpc>
                <a:spcPct val="120000"/>
              </a:lnSpc>
              <a:buNone/>
            </a:pPr>
            <a:r>
              <a:rPr lang="en-US" sz="1000" i="1" dirty="0">
                <a:solidFill>
                  <a:srgbClr val="5B7B6A"/>
                </a:solidFill>
                <a:latin typeface="Calibri" pitchFamily="34" charset="0"/>
                <a:ea typeface="Calibri" pitchFamily="34" charset="-122"/>
                <a:cs typeface="Calibri" pitchFamily="34" charset="-120"/>
              </a:rPr>
              <a:t>Power BI — Duration Analysis dashboard, filterable by product and date range.</a:t>
            </a:r>
            <a:endParaRPr lang="en-US" sz="1000" dirty="0"/>
          </a:p>
        </p:txBody>
      </p:sp>
      <p:sp>
        <p:nvSpPr>
          <p:cNvPr id="14" name="Text 1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WORKFORCE PLANNING</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Operator Scheduling Analysis</a:t>
            </a:r>
            <a:endParaRPr lang="en-US" sz="3000" dirty="0"/>
          </a:p>
        </p:txBody>
      </p:sp>
      <p:graphicFrame>
        <p:nvGraphicFramePr>
          <p:cNvPr id="4" name="Chart 0"/>
          <p:cNvGraphicFramePr/>
          <p:nvPr/>
        </p:nvGraphicFramePr>
        <p:xfrm>
          <a:off x="457200" y="1645920"/>
          <a:ext cx="6309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645920"/>
            <a:ext cx="4617720" cy="960120"/>
          </a:xfrm>
          <a:prstGeom prst="roundRect">
            <a:avLst>
              <a:gd name="adj" fmla="val 6667"/>
            </a:avLst>
          </a:prstGeom>
          <a:solidFill>
            <a:srgbClr val="EAF4EE"/>
          </a:solidFill>
          <a:ln w="12700">
            <a:solidFill>
              <a:srgbClr val="C9DED2"/>
            </a:solidFill>
            <a:prstDash val="solid"/>
          </a:ln>
        </p:spPr>
      </p:sp>
      <p:sp>
        <p:nvSpPr>
          <p:cNvPr id="6" name="Text 3"/>
          <p:cNvSpPr/>
          <p:nvPr/>
        </p:nvSpPr>
        <p:spPr>
          <a:xfrm>
            <a:off x="7269480" y="1691640"/>
            <a:ext cx="1188720" cy="868680"/>
          </a:xfrm>
          <a:prstGeom prst="rect">
            <a:avLst/>
          </a:prstGeom>
          <a:noFill/>
          <a:ln/>
        </p:spPr>
        <p:txBody>
          <a:bodyPr wrap="square" lIns="0" tIns="0" rIns="0" bIns="0" rtlCol="0" anchor="ctr"/>
          <a:lstStyle/>
          <a:p>
            <a:pPr marL="0" indent="0">
              <a:buNone/>
            </a:pPr>
            <a:r>
              <a:rPr lang="en-US" sz="2600" b="1" dirty="0">
                <a:solidFill>
                  <a:srgbClr val="2D6A4F"/>
                </a:solidFill>
                <a:latin typeface="Cambria" pitchFamily="34" charset="0"/>
                <a:ea typeface="Cambria" pitchFamily="34" charset="-122"/>
                <a:cs typeface="Cambria" pitchFamily="34" charset="-120"/>
              </a:rPr>
              <a:t>51</a:t>
            </a:r>
            <a:endParaRPr lang="en-US" sz="2600" dirty="0"/>
          </a:p>
        </p:txBody>
      </p:sp>
      <p:sp>
        <p:nvSpPr>
          <p:cNvPr id="7" name="Text 4"/>
          <p:cNvSpPr/>
          <p:nvPr/>
        </p:nvSpPr>
        <p:spPr>
          <a:xfrm>
            <a:off x="8549640" y="1691640"/>
            <a:ext cx="3017520" cy="868680"/>
          </a:xfrm>
          <a:prstGeom prst="rect">
            <a:avLst/>
          </a:prstGeom>
          <a:noFill/>
          <a:ln/>
        </p:spPr>
        <p:txBody>
          <a:bodyPr wrap="square" lIns="0" tIns="0" rIns="0" bIns="0" rtlCol="0" anchor="ctr"/>
          <a:lstStyle/>
          <a:p>
            <a:pPr marL="0" indent="0">
              <a:lnSpc>
                <a:spcPct val="110000"/>
              </a:lnSpc>
              <a:buNone/>
            </a:pPr>
            <a:r>
              <a:rPr lang="en-US" sz="1150" dirty="0">
                <a:solidFill>
                  <a:srgbClr val="1B2B22"/>
                </a:solidFill>
                <a:latin typeface="Calibri" pitchFamily="34" charset="0"/>
                <a:ea typeface="Calibri" pitchFamily="34" charset="-122"/>
                <a:cs typeface="Calibri" pitchFamily="34" charset="-120"/>
              </a:rPr>
              <a:t>Days with operators assigned multiple batches</a:t>
            </a:r>
            <a:endParaRPr lang="en-US" sz="1150" dirty="0"/>
          </a:p>
        </p:txBody>
      </p:sp>
      <p:sp>
        <p:nvSpPr>
          <p:cNvPr id="8" name="Shape 5"/>
          <p:cNvSpPr/>
          <p:nvPr/>
        </p:nvSpPr>
        <p:spPr>
          <a:xfrm>
            <a:off x="7086600" y="2743200"/>
            <a:ext cx="4617720" cy="960120"/>
          </a:xfrm>
          <a:prstGeom prst="roundRect">
            <a:avLst>
              <a:gd name="adj" fmla="val 6667"/>
            </a:avLst>
          </a:prstGeom>
          <a:solidFill>
            <a:srgbClr val="EAF4EE"/>
          </a:solidFill>
          <a:ln w="12700">
            <a:solidFill>
              <a:srgbClr val="C9DED2"/>
            </a:solidFill>
            <a:prstDash val="solid"/>
          </a:ln>
        </p:spPr>
      </p:sp>
      <p:sp>
        <p:nvSpPr>
          <p:cNvPr id="9" name="Text 6"/>
          <p:cNvSpPr/>
          <p:nvPr/>
        </p:nvSpPr>
        <p:spPr>
          <a:xfrm>
            <a:off x="7269480" y="2788920"/>
            <a:ext cx="1188720" cy="868680"/>
          </a:xfrm>
          <a:prstGeom prst="rect">
            <a:avLst/>
          </a:prstGeom>
          <a:noFill/>
          <a:ln/>
        </p:spPr>
        <p:txBody>
          <a:bodyPr wrap="square" lIns="0" tIns="0" rIns="0" bIns="0" rtlCol="0" anchor="ctr"/>
          <a:lstStyle/>
          <a:p>
            <a:pPr marL="0" indent="0">
              <a:buNone/>
            </a:pPr>
            <a:r>
              <a:rPr lang="en-US" sz="2600" b="1" dirty="0">
                <a:solidFill>
                  <a:srgbClr val="2D6A4F"/>
                </a:solidFill>
                <a:latin typeface="Cambria" pitchFamily="34" charset="0"/>
                <a:ea typeface="Cambria" pitchFamily="34" charset="-122"/>
                <a:cs typeface="Cambria" pitchFamily="34" charset="-120"/>
              </a:rPr>
              <a:t>131</a:t>
            </a:r>
            <a:endParaRPr lang="en-US" sz="2600" dirty="0"/>
          </a:p>
        </p:txBody>
      </p:sp>
      <p:sp>
        <p:nvSpPr>
          <p:cNvPr id="10" name="Text 7"/>
          <p:cNvSpPr/>
          <p:nvPr/>
        </p:nvSpPr>
        <p:spPr>
          <a:xfrm>
            <a:off x="8549640" y="2788920"/>
            <a:ext cx="3017520" cy="868680"/>
          </a:xfrm>
          <a:prstGeom prst="rect">
            <a:avLst/>
          </a:prstGeom>
          <a:noFill/>
          <a:ln/>
        </p:spPr>
        <p:txBody>
          <a:bodyPr wrap="square" lIns="0" tIns="0" rIns="0" bIns="0" rtlCol="0" anchor="ctr"/>
          <a:lstStyle/>
          <a:p>
            <a:pPr marL="0" indent="0">
              <a:lnSpc>
                <a:spcPct val="110000"/>
              </a:lnSpc>
              <a:buNone/>
            </a:pPr>
            <a:r>
              <a:rPr lang="en-US" sz="1150" dirty="0">
                <a:solidFill>
                  <a:srgbClr val="1B2B22"/>
                </a:solidFill>
                <a:latin typeface="Calibri" pitchFamily="34" charset="0"/>
                <a:ea typeface="Calibri" pitchFamily="34" charset="-122"/>
                <a:cs typeface="Calibri" pitchFamily="34" charset="-120"/>
              </a:rPr>
              <a:t>Scheduling-overlap downtime instances</a:t>
            </a:r>
            <a:endParaRPr lang="en-US" sz="1150" dirty="0"/>
          </a:p>
        </p:txBody>
      </p:sp>
      <p:sp>
        <p:nvSpPr>
          <p:cNvPr id="11" name="Shape 8"/>
          <p:cNvSpPr/>
          <p:nvPr/>
        </p:nvSpPr>
        <p:spPr>
          <a:xfrm>
            <a:off x="7086600" y="3840480"/>
            <a:ext cx="4617720" cy="960120"/>
          </a:xfrm>
          <a:prstGeom prst="roundRect">
            <a:avLst>
              <a:gd name="adj" fmla="val 6667"/>
            </a:avLst>
          </a:prstGeom>
          <a:solidFill>
            <a:srgbClr val="EAF4EE"/>
          </a:solidFill>
          <a:ln w="12700">
            <a:solidFill>
              <a:srgbClr val="C9DED2"/>
            </a:solidFill>
            <a:prstDash val="solid"/>
          </a:ln>
        </p:spPr>
      </p:sp>
      <p:sp>
        <p:nvSpPr>
          <p:cNvPr id="12" name="Text 9"/>
          <p:cNvSpPr/>
          <p:nvPr/>
        </p:nvSpPr>
        <p:spPr>
          <a:xfrm>
            <a:off x="7269480" y="3886200"/>
            <a:ext cx="1188720" cy="868680"/>
          </a:xfrm>
          <a:prstGeom prst="rect">
            <a:avLst/>
          </a:prstGeom>
          <a:noFill/>
          <a:ln/>
        </p:spPr>
        <p:txBody>
          <a:bodyPr wrap="square" lIns="0" tIns="0" rIns="0" bIns="0" rtlCol="0" anchor="ctr"/>
          <a:lstStyle/>
          <a:p>
            <a:pPr marL="0" indent="0">
              <a:buNone/>
            </a:pPr>
            <a:r>
              <a:rPr lang="en-US" sz="2600" b="1" dirty="0">
                <a:solidFill>
                  <a:srgbClr val="2D6A4F"/>
                </a:solidFill>
                <a:latin typeface="Cambria" pitchFamily="34" charset="0"/>
                <a:ea typeface="Cambria" pitchFamily="34" charset="-122"/>
                <a:cs typeface="Cambria" pitchFamily="34" charset="-120"/>
              </a:rPr>
              <a:t>109</a:t>
            </a:r>
            <a:endParaRPr lang="en-US" sz="2600" dirty="0"/>
          </a:p>
        </p:txBody>
      </p:sp>
      <p:sp>
        <p:nvSpPr>
          <p:cNvPr id="13" name="Text 10"/>
          <p:cNvSpPr/>
          <p:nvPr/>
        </p:nvSpPr>
        <p:spPr>
          <a:xfrm>
            <a:off x="8549640" y="3886200"/>
            <a:ext cx="3017520" cy="868680"/>
          </a:xfrm>
          <a:prstGeom prst="rect">
            <a:avLst/>
          </a:prstGeom>
          <a:noFill/>
          <a:ln/>
        </p:spPr>
        <p:txBody>
          <a:bodyPr wrap="square" lIns="0" tIns="0" rIns="0" bIns="0" rtlCol="0" anchor="ctr"/>
          <a:lstStyle/>
          <a:p>
            <a:pPr marL="0" indent="0">
              <a:lnSpc>
                <a:spcPct val="110000"/>
              </a:lnSpc>
              <a:buNone/>
            </a:pPr>
            <a:r>
              <a:rPr lang="en-US" sz="1150" dirty="0">
                <a:solidFill>
                  <a:srgbClr val="1B2B22"/>
                </a:solidFill>
                <a:latin typeface="Calibri" pitchFamily="34" charset="0"/>
                <a:ea typeface="Calibri" pitchFamily="34" charset="-122"/>
                <a:cs typeface="Calibri" pitchFamily="34" charset="-120"/>
              </a:rPr>
              <a:t>Batches affected by overlap</a:t>
            </a:r>
            <a:endParaRPr lang="en-US" sz="1150" dirty="0"/>
          </a:p>
        </p:txBody>
      </p:sp>
      <p:sp>
        <p:nvSpPr>
          <p:cNvPr id="14" name="Shape 11"/>
          <p:cNvSpPr/>
          <p:nvPr/>
        </p:nvSpPr>
        <p:spPr>
          <a:xfrm>
            <a:off x="7086600" y="4937760"/>
            <a:ext cx="4617720" cy="868680"/>
          </a:xfrm>
          <a:prstGeom prst="roundRect">
            <a:avLst>
              <a:gd name="adj" fmla="val 7368"/>
            </a:avLst>
          </a:prstGeom>
          <a:solidFill>
            <a:srgbClr val="1B4332"/>
          </a:solidFill>
          <a:ln/>
        </p:spPr>
      </p:sp>
      <p:sp>
        <p:nvSpPr>
          <p:cNvPr id="15" name="Text 12"/>
          <p:cNvSpPr/>
          <p:nvPr/>
        </p:nvSpPr>
        <p:spPr>
          <a:xfrm>
            <a:off x="7269480" y="5010912"/>
            <a:ext cx="4297680" cy="73152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Running two or more different products concurrently is a significant, avoidable cause of downtime.</a:t>
            </a:r>
            <a:endParaRPr lang="en-US" sz="1100" dirty="0"/>
          </a:p>
        </p:txBody>
      </p:sp>
      <p:sp>
        <p:nvSpPr>
          <p:cNvPr id="16"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7"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95D5B2"/>
                </a:solidFill>
                <a:latin typeface="Calibri" pitchFamily="34" charset="0"/>
                <a:ea typeface="Calibri" pitchFamily="34" charset="-122"/>
                <a:cs typeface="Calibri" pitchFamily="34" charset="-120"/>
              </a:rPr>
              <a:t>WHY IT MATTERS</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Business Impact</a:t>
            </a:r>
            <a:endParaRPr lang="en-US" sz="3000" dirty="0"/>
          </a:p>
        </p:txBody>
      </p:sp>
      <p:sp>
        <p:nvSpPr>
          <p:cNvPr id="4" name="Text 2"/>
          <p:cNvSpPr/>
          <p:nvPr/>
        </p:nvSpPr>
        <p:spPr>
          <a:xfrm>
            <a:off x="548640" y="1417320"/>
            <a:ext cx="11064240" cy="548640"/>
          </a:xfrm>
          <a:prstGeom prst="rect">
            <a:avLst/>
          </a:prstGeom>
          <a:noFill/>
          <a:ln/>
        </p:spPr>
        <p:txBody>
          <a:bodyPr wrap="square" lIns="0" tIns="0" rIns="0" bIns="0" rtlCol="0" anchor="ctr"/>
          <a:lstStyle/>
          <a:p>
            <a:pPr marL="0" indent="0">
              <a:buNone/>
            </a:pPr>
            <a:r>
              <a:rPr lang="en-US" sz="1450" i="1" dirty="0">
                <a:solidFill>
                  <a:srgbClr val="D7E9DD"/>
                </a:solidFill>
                <a:latin typeface="Calibri" pitchFamily="34" charset="0"/>
                <a:ea typeface="Calibri" pitchFamily="34" charset="-122"/>
                <a:cs typeface="Calibri" pitchFamily="34" charset="-120"/>
              </a:rPr>
              <a:t>Persistent downtime is not a back-office issue — it compounds directly into cost, service, and competitiveness.</a:t>
            </a:r>
            <a:endParaRPr lang="en-US" sz="1450" dirty="0"/>
          </a:p>
        </p:txBody>
      </p:sp>
      <p:sp>
        <p:nvSpPr>
          <p:cNvPr id="5" name="Shape 3"/>
          <p:cNvSpPr/>
          <p:nvPr/>
        </p:nvSpPr>
        <p:spPr>
          <a:xfrm>
            <a:off x="548640" y="2194560"/>
            <a:ext cx="2724912" cy="3566160"/>
          </a:xfrm>
          <a:prstGeom prst="roundRect">
            <a:avLst>
              <a:gd name="adj" fmla="val 2349"/>
            </a:avLst>
          </a:prstGeom>
          <a:solidFill>
            <a:srgbClr val="2D6A4F">
              <a:alpha val="70000"/>
            </a:srgbClr>
          </a:solidFill>
          <a:ln w="12700">
            <a:solidFill>
              <a:srgbClr val="4C956C"/>
            </a:solidFill>
            <a:prstDash val="solid"/>
          </a:ln>
        </p:spPr>
      </p:sp>
      <p:sp>
        <p:nvSpPr>
          <p:cNvPr id="6" name="Shape 4"/>
          <p:cNvSpPr/>
          <p:nvPr/>
        </p:nvSpPr>
        <p:spPr>
          <a:xfrm>
            <a:off x="1568196" y="2423160"/>
            <a:ext cx="685800" cy="685800"/>
          </a:xfrm>
          <a:prstGeom prst="ellipse">
            <a:avLst/>
          </a:prstGeom>
          <a:solidFill>
            <a:srgbClr val="1B4332"/>
          </a:solidFill>
          <a:ln/>
        </p:spPr>
      </p:sp>
      <p:pic>
        <p:nvPicPr>
          <p:cNvPr id="7" name="Image 0" descr="/home/claude/icons/trend_amber.png"/>
          <p:cNvPicPr>
            <a:picLocks noChangeAspect="1"/>
          </p:cNvPicPr>
          <p:nvPr/>
        </p:nvPicPr>
        <p:blipFill>
          <a:blip r:embed="rId3"/>
          <a:stretch>
            <a:fillRect/>
          </a:stretch>
        </p:blipFill>
        <p:spPr>
          <a:xfrm>
            <a:off x="1739646" y="2594610"/>
            <a:ext cx="342900" cy="342900"/>
          </a:xfrm>
          <a:prstGeom prst="rect">
            <a:avLst/>
          </a:prstGeom>
        </p:spPr>
      </p:pic>
      <p:sp>
        <p:nvSpPr>
          <p:cNvPr id="8" name="Text 5"/>
          <p:cNvSpPr/>
          <p:nvPr/>
        </p:nvSpPr>
        <p:spPr>
          <a:xfrm>
            <a:off x="685800" y="3291840"/>
            <a:ext cx="245059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Reduced Productivity</a:t>
            </a:r>
            <a:endParaRPr lang="en-US" sz="1400" dirty="0"/>
          </a:p>
        </p:txBody>
      </p:sp>
      <p:sp>
        <p:nvSpPr>
          <p:cNvPr id="9" name="Text 6"/>
          <p:cNvSpPr/>
          <p:nvPr/>
        </p:nvSpPr>
        <p:spPr>
          <a:xfrm>
            <a:off x="731520" y="3886200"/>
            <a:ext cx="2359152" cy="1737360"/>
          </a:xfrm>
          <a:prstGeom prst="rect">
            <a:avLst/>
          </a:prstGeom>
          <a:noFill/>
          <a:ln/>
        </p:spPr>
        <p:txBody>
          <a:bodyPr wrap="square" lIns="0" tIns="0" rIns="0" bIns="0" rtlCol="0" anchor="ctr"/>
          <a:lstStyle/>
          <a:p>
            <a:pPr marL="0" indent="0" algn="ctr">
              <a:lnSpc>
                <a:spcPct val="120000"/>
              </a:lnSpc>
              <a:buNone/>
            </a:pPr>
            <a:r>
              <a:rPr lang="en-US" sz="1050" dirty="0">
                <a:solidFill>
                  <a:srgbClr val="E5F0E9"/>
                </a:solidFill>
                <a:latin typeface="Calibri" pitchFamily="34" charset="0"/>
                <a:ea typeface="Calibri" pitchFamily="34" charset="-122"/>
                <a:cs typeface="Calibri" pitchFamily="34" charset="-120"/>
              </a:rPr>
              <a:t>Every downtime event compounds — 21.74 lost days represent capacity that could have gone to fulfillable orders.</a:t>
            </a:r>
            <a:endParaRPr lang="en-US" sz="1050" dirty="0"/>
          </a:p>
        </p:txBody>
      </p:sp>
      <p:sp>
        <p:nvSpPr>
          <p:cNvPr id="10" name="Shape 7"/>
          <p:cNvSpPr/>
          <p:nvPr/>
        </p:nvSpPr>
        <p:spPr>
          <a:xfrm>
            <a:off x="3419856" y="2194560"/>
            <a:ext cx="2724912" cy="3566160"/>
          </a:xfrm>
          <a:prstGeom prst="roundRect">
            <a:avLst>
              <a:gd name="adj" fmla="val 2349"/>
            </a:avLst>
          </a:prstGeom>
          <a:solidFill>
            <a:srgbClr val="2D6A4F">
              <a:alpha val="70000"/>
            </a:srgbClr>
          </a:solidFill>
          <a:ln w="12700">
            <a:solidFill>
              <a:srgbClr val="4C956C"/>
            </a:solidFill>
            <a:prstDash val="solid"/>
          </a:ln>
        </p:spPr>
      </p:sp>
      <p:sp>
        <p:nvSpPr>
          <p:cNvPr id="11" name="Shape 8"/>
          <p:cNvSpPr/>
          <p:nvPr/>
        </p:nvSpPr>
        <p:spPr>
          <a:xfrm>
            <a:off x="4439412" y="2423160"/>
            <a:ext cx="685800" cy="685800"/>
          </a:xfrm>
          <a:prstGeom prst="ellipse">
            <a:avLst/>
          </a:prstGeom>
          <a:solidFill>
            <a:srgbClr val="1B4332"/>
          </a:solidFill>
          <a:ln/>
        </p:spPr>
      </p:sp>
      <p:pic>
        <p:nvPicPr>
          <p:cNvPr id="12" name="Image 1" descr="/home/claude/icons/boxes_amber.png"/>
          <p:cNvPicPr>
            <a:picLocks noChangeAspect="1"/>
          </p:cNvPicPr>
          <p:nvPr/>
        </p:nvPicPr>
        <p:blipFill>
          <a:blip r:embed="rId4"/>
          <a:stretch>
            <a:fillRect/>
          </a:stretch>
        </p:blipFill>
        <p:spPr>
          <a:xfrm>
            <a:off x="4610862" y="2594610"/>
            <a:ext cx="342900" cy="342900"/>
          </a:xfrm>
          <a:prstGeom prst="rect">
            <a:avLst/>
          </a:prstGeom>
        </p:spPr>
      </p:pic>
      <p:sp>
        <p:nvSpPr>
          <p:cNvPr id="13" name="Text 9"/>
          <p:cNvSpPr/>
          <p:nvPr/>
        </p:nvSpPr>
        <p:spPr>
          <a:xfrm>
            <a:off x="3557016" y="3291840"/>
            <a:ext cx="245059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Higher Operating Costs</a:t>
            </a:r>
            <a:endParaRPr lang="en-US" sz="1400" dirty="0"/>
          </a:p>
        </p:txBody>
      </p:sp>
      <p:sp>
        <p:nvSpPr>
          <p:cNvPr id="14" name="Text 10"/>
          <p:cNvSpPr/>
          <p:nvPr/>
        </p:nvSpPr>
        <p:spPr>
          <a:xfrm>
            <a:off x="3602736" y="3886200"/>
            <a:ext cx="2359152" cy="1737360"/>
          </a:xfrm>
          <a:prstGeom prst="rect">
            <a:avLst/>
          </a:prstGeom>
          <a:noFill/>
          <a:ln/>
        </p:spPr>
        <p:txBody>
          <a:bodyPr wrap="square" lIns="0" tIns="0" rIns="0" bIns="0" rtlCol="0" anchor="ctr"/>
          <a:lstStyle/>
          <a:p>
            <a:pPr marL="0" indent="0" algn="ctr">
              <a:lnSpc>
                <a:spcPct val="120000"/>
              </a:lnSpc>
              <a:buNone/>
            </a:pPr>
            <a:r>
              <a:rPr lang="en-US" sz="1050" dirty="0">
                <a:solidFill>
                  <a:srgbClr val="E5F0E9"/>
                </a:solidFill>
                <a:latin typeface="Calibri" pitchFamily="34" charset="0"/>
                <a:ea typeface="Calibri" pitchFamily="34" charset="-122"/>
                <a:cs typeface="Calibri" pitchFamily="34" charset="-120"/>
              </a:rPr>
              <a:t>Unplanned downtime drives overtime, expedited materials, and inefficient labor allocation.</a:t>
            </a:r>
            <a:endParaRPr lang="en-US" sz="1050" dirty="0"/>
          </a:p>
        </p:txBody>
      </p:sp>
      <p:sp>
        <p:nvSpPr>
          <p:cNvPr id="15" name="Shape 11"/>
          <p:cNvSpPr/>
          <p:nvPr/>
        </p:nvSpPr>
        <p:spPr>
          <a:xfrm>
            <a:off x="6291072" y="2194560"/>
            <a:ext cx="2724912" cy="3566160"/>
          </a:xfrm>
          <a:prstGeom prst="roundRect">
            <a:avLst>
              <a:gd name="adj" fmla="val 2349"/>
            </a:avLst>
          </a:prstGeom>
          <a:solidFill>
            <a:srgbClr val="2D6A4F">
              <a:alpha val="70000"/>
            </a:srgbClr>
          </a:solidFill>
          <a:ln w="12700">
            <a:solidFill>
              <a:srgbClr val="4C956C"/>
            </a:solidFill>
            <a:prstDash val="solid"/>
          </a:ln>
        </p:spPr>
      </p:sp>
      <p:sp>
        <p:nvSpPr>
          <p:cNvPr id="16" name="Shape 12"/>
          <p:cNvSpPr/>
          <p:nvPr/>
        </p:nvSpPr>
        <p:spPr>
          <a:xfrm>
            <a:off x="7310628" y="2423160"/>
            <a:ext cx="685800" cy="685800"/>
          </a:xfrm>
          <a:prstGeom prst="ellipse">
            <a:avLst/>
          </a:prstGeom>
          <a:solidFill>
            <a:srgbClr val="1B4332"/>
          </a:solidFill>
          <a:ln/>
        </p:spPr>
      </p:sp>
      <p:pic>
        <p:nvPicPr>
          <p:cNvPr id="17" name="Image 2" descr="/home/claude/icons/clock_amber.png"/>
          <p:cNvPicPr>
            <a:picLocks noChangeAspect="1"/>
          </p:cNvPicPr>
          <p:nvPr/>
        </p:nvPicPr>
        <p:blipFill>
          <a:blip r:embed="rId5"/>
          <a:stretch>
            <a:fillRect/>
          </a:stretch>
        </p:blipFill>
        <p:spPr>
          <a:xfrm>
            <a:off x="7482078" y="2594610"/>
            <a:ext cx="342900" cy="342900"/>
          </a:xfrm>
          <a:prstGeom prst="rect">
            <a:avLst/>
          </a:prstGeom>
        </p:spPr>
      </p:pic>
      <p:sp>
        <p:nvSpPr>
          <p:cNvPr id="18" name="Text 13"/>
          <p:cNvSpPr/>
          <p:nvPr/>
        </p:nvSpPr>
        <p:spPr>
          <a:xfrm>
            <a:off x="6428232" y="3291840"/>
            <a:ext cx="245059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Delayed Order Fulfillment</a:t>
            </a:r>
            <a:endParaRPr lang="en-US" sz="1400" dirty="0"/>
          </a:p>
        </p:txBody>
      </p:sp>
      <p:sp>
        <p:nvSpPr>
          <p:cNvPr id="19" name="Text 14"/>
          <p:cNvSpPr/>
          <p:nvPr/>
        </p:nvSpPr>
        <p:spPr>
          <a:xfrm>
            <a:off x="6473952" y="3886200"/>
            <a:ext cx="2359152" cy="1737360"/>
          </a:xfrm>
          <a:prstGeom prst="rect">
            <a:avLst/>
          </a:prstGeom>
          <a:noFill/>
          <a:ln/>
        </p:spPr>
        <p:txBody>
          <a:bodyPr wrap="square" lIns="0" tIns="0" rIns="0" bIns="0" rtlCol="0" anchor="ctr"/>
          <a:lstStyle/>
          <a:p>
            <a:pPr marL="0" indent="0" algn="ctr">
              <a:lnSpc>
                <a:spcPct val="120000"/>
              </a:lnSpc>
              <a:buNone/>
            </a:pPr>
            <a:r>
              <a:rPr lang="en-US" sz="1050" dirty="0">
                <a:solidFill>
                  <a:srgbClr val="E5F0E9"/>
                </a:solidFill>
                <a:latin typeface="Calibri" pitchFamily="34" charset="0"/>
                <a:ea typeface="Calibri" pitchFamily="34" charset="-122"/>
                <a:cs typeface="Calibri" pitchFamily="34" charset="-120"/>
              </a:rPr>
              <a:t>Delayed batches ripple downstream into delivery schedules and customer commitments.</a:t>
            </a:r>
            <a:endParaRPr lang="en-US" sz="1050" dirty="0"/>
          </a:p>
        </p:txBody>
      </p:sp>
      <p:sp>
        <p:nvSpPr>
          <p:cNvPr id="20" name="Shape 15"/>
          <p:cNvSpPr/>
          <p:nvPr/>
        </p:nvSpPr>
        <p:spPr>
          <a:xfrm>
            <a:off x="9162288" y="2194560"/>
            <a:ext cx="2724912" cy="3566160"/>
          </a:xfrm>
          <a:prstGeom prst="roundRect">
            <a:avLst>
              <a:gd name="adj" fmla="val 2349"/>
            </a:avLst>
          </a:prstGeom>
          <a:solidFill>
            <a:srgbClr val="2D6A4F">
              <a:alpha val="70000"/>
            </a:srgbClr>
          </a:solidFill>
          <a:ln w="12700">
            <a:solidFill>
              <a:srgbClr val="4C956C"/>
            </a:solidFill>
            <a:prstDash val="solid"/>
          </a:ln>
        </p:spPr>
      </p:sp>
      <p:sp>
        <p:nvSpPr>
          <p:cNvPr id="21" name="Shape 16"/>
          <p:cNvSpPr/>
          <p:nvPr/>
        </p:nvSpPr>
        <p:spPr>
          <a:xfrm>
            <a:off x="10181844" y="2423160"/>
            <a:ext cx="685800" cy="685800"/>
          </a:xfrm>
          <a:prstGeom prst="ellipse">
            <a:avLst/>
          </a:prstGeom>
          <a:solidFill>
            <a:srgbClr val="1B4332"/>
          </a:solidFill>
          <a:ln/>
        </p:spPr>
      </p:sp>
      <p:pic>
        <p:nvPicPr>
          <p:cNvPr id="22" name="Image 3" descr="/home/claude/icons/handshake_amber.png"/>
          <p:cNvPicPr>
            <a:picLocks noChangeAspect="1"/>
          </p:cNvPicPr>
          <p:nvPr/>
        </p:nvPicPr>
        <p:blipFill>
          <a:blip r:embed="rId6"/>
          <a:stretch>
            <a:fillRect/>
          </a:stretch>
        </p:blipFill>
        <p:spPr>
          <a:xfrm>
            <a:off x="10353294" y="2594610"/>
            <a:ext cx="342900" cy="342900"/>
          </a:xfrm>
          <a:prstGeom prst="rect">
            <a:avLst/>
          </a:prstGeom>
        </p:spPr>
      </p:pic>
      <p:sp>
        <p:nvSpPr>
          <p:cNvPr id="23" name="Text 17"/>
          <p:cNvSpPr/>
          <p:nvPr/>
        </p:nvSpPr>
        <p:spPr>
          <a:xfrm>
            <a:off x="9299448" y="3291840"/>
            <a:ext cx="245059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Weaker Competitive Position</a:t>
            </a:r>
            <a:endParaRPr lang="en-US" sz="1400" dirty="0"/>
          </a:p>
        </p:txBody>
      </p:sp>
      <p:sp>
        <p:nvSpPr>
          <p:cNvPr id="24" name="Text 18"/>
          <p:cNvSpPr/>
          <p:nvPr/>
        </p:nvSpPr>
        <p:spPr>
          <a:xfrm>
            <a:off x="9345168" y="3886200"/>
            <a:ext cx="2359152" cy="1737360"/>
          </a:xfrm>
          <a:prstGeom prst="rect">
            <a:avLst/>
          </a:prstGeom>
          <a:noFill/>
          <a:ln/>
        </p:spPr>
        <p:txBody>
          <a:bodyPr wrap="square" lIns="0" tIns="0" rIns="0" bIns="0" rtlCol="0" anchor="ctr"/>
          <a:lstStyle/>
          <a:p>
            <a:pPr marL="0" indent="0" algn="ctr">
              <a:lnSpc>
                <a:spcPct val="120000"/>
              </a:lnSpc>
              <a:buNone/>
            </a:pPr>
            <a:r>
              <a:rPr lang="en-US" sz="1050" dirty="0">
                <a:solidFill>
                  <a:srgbClr val="E5F0E9"/>
                </a:solidFill>
                <a:latin typeface="Calibri" pitchFamily="34" charset="0"/>
                <a:ea typeface="Calibri" pitchFamily="34" charset="-122"/>
                <a:cs typeface="Calibri" pitchFamily="34" charset="-120"/>
              </a:rPr>
              <a:t>If unresolved, reliability gaps risk customer satisfaction and market standing over time.</a:t>
            </a:r>
            <a:endParaRPr lang="en-US" sz="1050" dirty="0"/>
          </a:p>
        </p:txBody>
      </p:sp>
      <p:sp>
        <p:nvSpPr>
          <p:cNvPr id="25" name="Text 1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BFDCC9"/>
                </a:solidFill>
                <a:latin typeface="Calibri" pitchFamily="34" charset="0"/>
                <a:ea typeface="Calibri" pitchFamily="34" charset="-122"/>
                <a:cs typeface="Calibri" pitchFamily="34" charset="-120"/>
              </a:rPr>
              <a:t>GreenTech Downtime Analysis Project</a:t>
            </a:r>
            <a:endParaRPr lang="en-US" sz="900" dirty="0"/>
          </a:p>
        </p:txBody>
      </p:sp>
      <p:sp>
        <p:nvSpPr>
          <p:cNvPr id="26"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DCC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THE PATH FORWARD</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Recommendations</a:t>
            </a:r>
            <a:endParaRPr lang="en-US" sz="3000" dirty="0"/>
          </a:p>
        </p:txBody>
      </p:sp>
      <p:sp>
        <p:nvSpPr>
          <p:cNvPr id="4" name="Shape 2"/>
          <p:cNvSpPr/>
          <p:nvPr/>
        </p:nvSpPr>
        <p:spPr>
          <a:xfrm>
            <a:off x="548640" y="1737360"/>
            <a:ext cx="2121408" cy="4114800"/>
          </a:xfrm>
          <a:prstGeom prst="roundRect">
            <a:avLst>
              <a:gd name="adj" fmla="val 3017"/>
            </a:avLst>
          </a:prstGeom>
          <a:solidFill>
            <a:srgbClr val="EAF4EE"/>
          </a:solidFill>
          <a:ln w="12700">
            <a:solidFill>
              <a:srgbClr val="C9DED2"/>
            </a:solidFill>
            <a:prstDash val="solid"/>
          </a:ln>
        </p:spPr>
      </p:sp>
      <p:sp>
        <p:nvSpPr>
          <p:cNvPr id="5" name="Text 3"/>
          <p:cNvSpPr/>
          <p:nvPr/>
        </p:nvSpPr>
        <p:spPr>
          <a:xfrm>
            <a:off x="685800" y="1874520"/>
            <a:ext cx="1097280" cy="45720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01</a:t>
            </a:r>
            <a:endParaRPr lang="en-US" sz="2000" dirty="0"/>
          </a:p>
        </p:txBody>
      </p:sp>
      <p:sp>
        <p:nvSpPr>
          <p:cNvPr id="6" name="Shape 4"/>
          <p:cNvSpPr/>
          <p:nvPr/>
        </p:nvSpPr>
        <p:spPr>
          <a:xfrm>
            <a:off x="1243584" y="2377440"/>
            <a:ext cx="731520" cy="731520"/>
          </a:xfrm>
          <a:prstGeom prst="ellipse">
            <a:avLst/>
          </a:prstGeom>
          <a:solidFill>
            <a:srgbClr val="2D6A4F"/>
          </a:solidFill>
          <a:ln/>
        </p:spPr>
      </p:sp>
      <p:pic>
        <p:nvPicPr>
          <p:cNvPr id="7" name="Image 0" descr="/home/claude/icons/wrench_white.png"/>
          <p:cNvPicPr>
            <a:picLocks noChangeAspect="1"/>
          </p:cNvPicPr>
          <p:nvPr/>
        </p:nvPicPr>
        <p:blipFill>
          <a:blip r:embed="rId3"/>
          <a:stretch>
            <a:fillRect/>
          </a:stretch>
        </p:blipFill>
        <p:spPr>
          <a:xfrm>
            <a:off x="1426464" y="2560320"/>
            <a:ext cx="365760" cy="365760"/>
          </a:xfrm>
          <a:prstGeom prst="rect">
            <a:avLst/>
          </a:prstGeom>
        </p:spPr>
      </p:pic>
      <p:sp>
        <p:nvSpPr>
          <p:cNvPr id="8" name="Text 5"/>
          <p:cNvSpPr/>
          <p:nvPr/>
        </p:nvSpPr>
        <p:spPr>
          <a:xfrm>
            <a:off x="685800" y="3291840"/>
            <a:ext cx="1847088" cy="640080"/>
          </a:xfrm>
          <a:prstGeom prst="rect">
            <a:avLst/>
          </a:prstGeom>
          <a:noFill/>
          <a:ln/>
        </p:spPr>
        <p:txBody>
          <a:bodyPr wrap="square" lIns="0" tIns="0" rIns="0" bIns="0" rtlCol="0" anchor="ctr"/>
          <a:lstStyle/>
          <a:p>
            <a:pPr marL="0" indent="0" algn="ctr">
              <a:buNone/>
            </a:pPr>
            <a:r>
              <a:rPr lang="en-US" sz="1350" b="1" dirty="0">
                <a:solidFill>
                  <a:srgbClr val="1B4332"/>
                </a:solidFill>
                <a:latin typeface="Cambria" pitchFamily="34" charset="0"/>
                <a:ea typeface="Cambria" pitchFamily="34" charset="-122"/>
                <a:cs typeface="Cambria" pitchFamily="34" charset="-120"/>
              </a:rPr>
              <a:t>Preventive Maintenance</a:t>
            </a:r>
            <a:endParaRPr lang="en-US" sz="1350" dirty="0"/>
          </a:p>
        </p:txBody>
      </p:sp>
      <p:sp>
        <p:nvSpPr>
          <p:cNvPr id="9" name="Text 6"/>
          <p:cNvSpPr/>
          <p:nvPr/>
        </p:nvSpPr>
        <p:spPr>
          <a:xfrm>
            <a:off x="713232" y="3977640"/>
            <a:ext cx="1792224" cy="1783080"/>
          </a:xfrm>
          <a:prstGeom prst="rect">
            <a:avLst/>
          </a:prstGeom>
          <a:noFill/>
          <a:ln/>
        </p:spPr>
        <p:txBody>
          <a:bodyPr wrap="square" lIns="0" tIns="0" rIns="0" bIns="0" rtlCol="0" anchor="ctr"/>
          <a:lstStyle/>
          <a:p>
            <a:pPr marL="0" indent="0" algn="ctr">
              <a:lnSpc>
                <a:spcPct val="118000"/>
              </a:lnSpc>
              <a:buNone/>
            </a:pPr>
            <a:r>
              <a:rPr lang="en-US" sz="1000" dirty="0">
                <a:solidFill>
                  <a:srgbClr val="1B2B22"/>
                </a:solidFill>
                <a:latin typeface="Calibri" pitchFamily="34" charset="0"/>
                <a:ea typeface="Calibri" pitchFamily="34" charset="-122"/>
                <a:cs typeface="Calibri" pitchFamily="34" charset="-120"/>
              </a:rPr>
              <a:t>Introduce scheduled preventive maintenance programs to reduce equipment-related disruptions before they occur.</a:t>
            </a:r>
            <a:endParaRPr lang="en-US" sz="1000" dirty="0"/>
          </a:p>
        </p:txBody>
      </p:sp>
      <p:sp>
        <p:nvSpPr>
          <p:cNvPr id="10" name="Shape 7"/>
          <p:cNvSpPr/>
          <p:nvPr/>
        </p:nvSpPr>
        <p:spPr>
          <a:xfrm>
            <a:off x="2793492" y="1737360"/>
            <a:ext cx="2121408" cy="4114800"/>
          </a:xfrm>
          <a:prstGeom prst="roundRect">
            <a:avLst>
              <a:gd name="adj" fmla="val 3017"/>
            </a:avLst>
          </a:prstGeom>
          <a:solidFill>
            <a:srgbClr val="EAF4EE"/>
          </a:solidFill>
          <a:ln w="12700">
            <a:solidFill>
              <a:srgbClr val="C9DED2"/>
            </a:solidFill>
            <a:prstDash val="solid"/>
          </a:ln>
        </p:spPr>
      </p:sp>
      <p:sp>
        <p:nvSpPr>
          <p:cNvPr id="11" name="Text 8"/>
          <p:cNvSpPr/>
          <p:nvPr/>
        </p:nvSpPr>
        <p:spPr>
          <a:xfrm>
            <a:off x="2930652" y="1874520"/>
            <a:ext cx="1097280" cy="45720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02</a:t>
            </a:r>
            <a:endParaRPr lang="en-US" sz="2000" dirty="0"/>
          </a:p>
        </p:txBody>
      </p:sp>
      <p:sp>
        <p:nvSpPr>
          <p:cNvPr id="12" name="Shape 9"/>
          <p:cNvSpPr/>
          <p:nvPr/>
        </p:nvSpPr>
        <p:spPr>
          <a:xfrm>
            <a:off x="3488436" y="2377440"/>
            <a:ext cx="731520" cy="731520"/>
          </a:xfrm>
          <a:prstGeom prst="ellipse">
            <a:avLst/>
          </a:prstGeom>
          <a:solidFill>
            <a:srgbClr val="2D6A4F"/>
          </a:solidFill>
          <a:ln/>
        </p:spPr>
      </p:sp>
      <p:pic>
        <p:nvPicPr>
          <p:cNvPr id="13" name="Image 1" descr="/home/claude/icons/boxes_white.png"/>
          <p:cNvPicPr>
            <a:picLocks noChangeAspect="1"/>
          </p:cNvPicPr>
          <p:nvPr/>
        </p:nvPicPr>
        <p:blipFill>
          <a:blip r:embed="rId4"/>
          <a:stretch>
            <a:fillRect/>
          </a:stretch>
        </p:blipFill>
        <p:spPr>
          <a:xfrm>
            <a:off x="3671316" y="2560320"/>
            <a:ext cx="365760" cy="365760"/>
          </a:xfrm>
          <a:prstGeom prst="rect">
            <a:avLst/>
          </a:prstGeom>
        </p:spPr>
      </p:pic>
      <p:sp>
        <p:nvSpPr>
          <p:cNvPr id="14" name="Text 10"/>
          <p:cNvSpPr/>
          <p:nvPr/>
        </p:nvSpPr>
        <p:spPr>
          <a:xfrm>
            <a:off x="2930652" y="3291840"/>
            <a:ext cx="1847088" cy="640080"/>
          </a:xfrm>
          <a:prstGeom prst="rect">
            <a:avLst/>
          </a:prstGeom>
          <a:noFill/>
          <a:ln/>
        </p:spPr>
        <p:txBody>
          <a:bodyPr wrap="square" lIns="0" tIns="0" rIns="0" bIns="0" rtlCol="0" anchor="ctr"/>
          <a:lstStyle/>
          <a:p>
            <a:pPr marL="0" indent="0" algn="ctr">
              <a:buNone/>
            </a:pPr>
            <a:r>
              <a:rPr lang="en-US" sz="1350" b="1" dirty="0">
                <a:solidFill>
                  <a:srgbClr val="1B4332"/>
                </a:solidFill>
                <a:latin typeface="Cambria" pitchFamily="34" charset="0"/>
                <a:ea typeface="Cambria" pitchFamily="34" charset="-122"/>
                <a:cs typeface="Cambria" pitchFamily="34" charset="-120"/>
              </a:rPr>
              <a:t>Inventory Management</a:t>
            </a:r>
            <a:endParaRPr lang="en-US" sz="1350" dirty="0"/>
          </a:p>
        </p:txBody>
      </p:sp>
      <p:sp>
        <p:nvSpPr>
          <p:cNvPr id="15" name="Text 11"/>
          <p:cNvSpPr/>
          <p:nvPr/>
        </p:nvSpPr>
        <p:spPr>
          <a:xfrm>
            <a:off x="2958084" y="3977640"/>
            <a:ext cx="1792224" cy="1783080"/>
          </a:xfrm>
          <a:prstGeom prst="rect">
            <a:avLst/>
          </a:prstGeom>
          <a:noFill/>
          <a:ln/>
        </p:spPr>
        <p:txBody>
          <a:bodyPr wrap="square" lIns="0" tIns="0" rIns="0" bIns="0" rtlCol="0" anchor="ctr"/>
          <a:lstStyle/>
          <a:p>
            <a:pPr marL="0" indent="0" algn="ctr">
              <a:lnSpc>
                <a:spcPct val="118000"/>
              </a:lnSpc>
              <a:buNone/>
            </a:pPr>
            <a:r>
              <a:rPr lang="en-US" sz="1000" dirty="0">
                <a:solidFill>
                  <a:srgbClr val="1B2B22"/>
                </a:solidFill>
                <a:latin typeface="Calibri" pitchFamily="34" charset="0"/>
                <a:ea typeface="Calibri" pitchFamily="34" charset="-122"/>
                <a:cs typeface="Calibri" pitchFamily="34" charset="-120"/>
              </a:rPr>
              <a:t>Implement real-time inventory monitoring and automated low-stock alerts to prevent material-shortage delays.</a:t>
            </a:r>
            <a:endParaRPr lang="en-US" sz="1000" dirty="0"/>
          </a:p>
        </p:txBody>
      </p:sp>
      <p:sp>
        <p:nvSpPr>
          <p:cNvPr id="16" name="Shape 12"/>
          <p:cNvSpPr/>
          <p:nvPr/>
        </p:nvSpPr>
        <p:spPr>
          <a:xfrm>
            <a:off x="5038344" y="1737360"/>
            <a:ext cx="2121408" cy="4114800"/>
          </a:xfrm>
          <a:prstGeom prst="roundRect">
            <a:avLst>
              <a:gd name="adj" fmla="val 3017"/>
            </a:avLst>
          </a:prstGeom>
          <a:solidFill>
            <a:srgbClr val="EAF4EE"/>
          </a:solidFill>
          <a:ln w="12700">
            <a:solidFill>
              <a:srgbClr val="C9DED2"/>
            </a:solidFill>
            <a:prstDash val="solid"/>
          </a:ln>
        </p:spPr>
      </p:sp>
      <p:sp>
        <p:nvSpPr>
          <p:cNvPr id="17" name="Text 13"/>
          <p:cNvSpPr/>
          <p:nvPr/>
        </p:nvSpPr>
        <p:spPr>
          <a:xfrm>
            <a:off x="5175504" y="1874520"/>
            <a:ext cx="1097280" cy="45720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03</a:t>
            </a:r>
            <a:endParaRPr lang="en-US" sz="2000" dirty="0"/>
          </a:p>
        </p:txBody>
      </p:sp>
      <p:sp>
        <p:nvSpPr>
          <p:cNvPr id="18" name="Shape 14"/>
          <p:cNvSpPr/>
          <p:nvPr/>
        </p:nvSpPr>
        <p:spPr>
          <a:xfrm>
            <a:off x="5733288" y="2377440"/>
            <a:ext cx="731520" cy="731520"/>
          </a:xfrm>
          <a:prstGeom prst="ellipse">
            <a:avLst/>
          </a:prstGeom>
          <a:solidFill>
            <a:srgbClr val="2D6A4F"/>
          </a:solidFill>
          <a:ln/>
        </p:spPr>
      </p:sp>
      <p:pic>
        <p:nvPicPr>
          <p:cNvPr id="19" name="Image 2" descr="/home/claude/icons/gradcap_white.png"/>
          <p:cNvPicPr>
            <a:picLocks noChangeAspect="1"/>
          </p:cNvPicPr>
          <p:nvPr/>
        </p:nvPicPr>
        <p:blipFill>
          <a:blip r:embed="rId5"/>
          <a:stretch>
            <a:fillRect/>
          </a:stretch>
        </p:blipFill>
        <p:spPr>
          <a:xfrm>
            <a:off x="5916168" y="2560320"/>
            <a:ext cx="365760" cy="365760"/>
          </a:xfrm>
          <a:prstGeom prst="rect">
            <a:avLst/>
          </a:prstGeom>
        </p:spPr>
      </p:pic>
      <p:sp>
        <p:nvSpPr>
          <p:cNvPr id="20" name="Text 15"/>
          <p:cNvSpPr/>
          <p:nvPr/>
        </p:nvSpPr>
        <p:spPr>
          <a:xfrm>
            <a:off x="5175504" y="3291840"/>
            <a:ext cx="1847088" cy="640080"/>
          </a:xfrm>
          <a:prstGeom prst="rect">
            <a:avLst/>
          </a:prstGeom>
          <a:noFill/>
          <a:ln/>
        </p:spPr>
        <p:txBody>
          <a:bodyPr wrap="square" lIns="0" tIns="0" rIns="0" bIns="0" rtlCol="0" anchor="ctr"/>
          <a:lstStyle/>
          <a:p>
            <a:pPr marL="0" indent="0" algn="ctr">
              <a:buNone/>
            </a:pPr>
            <a:r>
              <a:rPr lang="en-US" sz="1350" b="1" dirty="0">
                <a:solidFill>
                  <a:srgbClr val="1B4332"/>
                </a:solidFill>
                <a:latin typeface="Cambria" pitchFamily="34" charset="0"/>
                <a:ea typeface="Cambria" pitchFamily="34" charset="-122"/>
                <a:cs typeface="Cambria" pitchFamily="34" charset="-120"/>
              </a:rPr>
              <a:t>Operator Training</a:t>
            </a:r>
            <a:endParaRPr lang="en-US" sz="1350" dirty="0"/>
          </a:p>
        </p:txBody>
      </p:sp>
      <p:sp>
        <p:nvSpPr>
          <p:cNvPr id="21" name="Text 16"/>
          <p:cNvSpPr/>
          <p:nvPr/>
        </p:nvSpPr>
        <p:spPr>
          <a:xfrm>
            <a:off x="5202936" y="3977640"/>
            <a:ext cx="1792224" cy="1783080"/>
          </a:xfrm>
          <a:prstGeom prst="rect">
            <a:avLst/>
          </a:prstGeom>
          <a:noFill/>
          <a:ln/>
        </p:spPr>
        <p:txBody>
          <a:bodyPr wrap="square" lIns="0" tIns="0" rIns="0" bIns="0" rtlCol="0" anchor="ctr"/>
          <a:lstStyle/>
          <a:p>
            <a:pPr marL="0" indent="0" algn="ctr">
              <a:lnSpc>
                <a:spcPct val="118000"/>
              </a:lnSpc>
              <a:buNone/>
            </a:pPr>
            <a:r>
              <a:rPr lang="en-US" sz="1000" dirty="0">
                <a:solidFill>
                  <a:srgbClr val="1B2B22"/>
                </a:solidFill>
                <a:latin typeface="Calibri" pitchFamily="34" charset="0"/>
                <a:ea typeface="Calibri" pitchFamily="34" charset="-122"/>
                <a:cs typeface="Calibri" pitchFamily="34" charset="-120"/>
              </a:rPr>
              <a:t>Deliver targeted training and conduct monthly performance reviews to support continuous improvement.</a:t>
            </a:r>
            <a:endParaRPr lang="en-US" sz="1000" dirty="0"/>
          </a:p>
        </p:txBody>
      </p:sp>
      <p:sp>
        <p:nvSpPr>
          <p:cNvPr id="22" name="Shape 17"/>
          <p:cNvSpPr/>
          <p:nvPr/>
        </p:nvSpPr>
        <p:spPr>
          <a:xfrm>
            <a:off x="7283196" y="1737360"/>
            <a:ext cx="2121408" cy="4114800"/>
          </a:xfrm>
          <a:prstGeom prst="roundRect">
            <a:avLst>
              <a:gd name="adj" fmla="val 3017"/>
            </a:avLst>
          </a:prstGeom>
          <a:solidFill>
            <a:srgbClr val="EAF4EE"/>
          </a:solidFill>
          <a:ln w="12700">
            <a:solidFill>
              <a:srgbClr val="C9DED2"/>
            </a:solidFill>
            <a:prstDash val="solid"/>
          </a:ln>
        </p:spPr>
      </p:sp>
      <p:sp>
        <p:nvSpPr>
          <p:cNvPr id="23" name="Text 18"/>
          <p:cNvSpPr/>
          <p:nvPr/>
        </p:nvSpPr>
        <p:spPr>
          <a:xfrm>
            <a:off x="7420356" y="1874520"/>
            <a:ext cx="1097280" cy="45720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04</a:t>
            </a:r>
            <a:endParaRPr lang="en-US" sz="2000" dirty="0"/>
          </a:p>
        </p:txBody>
      </p:sp>
      <p:sp>
        <p:nvSpPr>
          <p:cNvPr id="24" name="Shape 19"/>
          <p:cNvSpPr/>
          <p:nvPr/>
        </p:nvSpPr>
        <p:spPr>
          <a:xfrm>
            <a:off x="7978140" y="2377440"/>
            <a:ext cx="731520" cy="731520"/>
          </a:xfrm>
          <a:prstGeom prst="ellipse">
            <a:avLst/>
          </a:prstGeom>
          <a:solidFill>
            <a:srgbClr val="2D6A4F"/>
          </a:solidFill>
          <a:ln/>
        </p:spPr>
      </p:sp>
      <p:pic>
        <p:nvPicPr>
          <p:cNvPr id="25" name="Image 3" descr="/home/claude/icons/calendar_white.png"/>
          <p:cNvPicPr>
            <a:picLocks noChangeAspect="1"/>
          </p:cNvPicPr>
          <p:nvPr/>
        </p:nvPicPr>
        <p:blipFill>
          <a:blip r:embed="rId6"/>
          <a:stretch>
            <a:fillRect/>
          </a:stretch>
        </p:blipFill>
        <p:spPr>
          <a:xfrm>
            <a:off x="8161020" y="2560320"/>
            <a:ext cx="365760" cy="365760"/>
          </a:xfrm>
          <a:prstGeom prst="rect">
            <a:avLst/>
          </a:prstGeom>
        </p:spPr>
      </p:pic>
      <p:sp>
        <p:nvSpPr>
          <p:cNvPr id="26" name="Text 20"/>
          <p:cNvSpPr/>
          <p:nvPr/>
        </p:nvSpPr>
        <p:spPr>
          <a:xfrm>
            <a:off x="7420356" y="3291840"/>
            <a:ext cx="1847088" cy="640080"/>
          </a:xfrm>
          <a:prstGeom prst="rect">
            <a:avLst/>
          </a:prstGeom>
          <a:noFill/>
          <a:ln/>
        </p:spPr>
        <p:txBody>
          <a:bodyPr wrap="square" lIns="0" tIns="0" rIns="0" bIns="0" rtlCol="0" anchor="ctr"/>
          <a:lstStyle/>
          <a:p>
            <a:pPr marL="0" indent="0" algn="ctr">
              <a:buNone/>
            </a:pPr>
            <a:r>
              <a:rPr lang="en-US" sz="1350" b="1" dirty="0">
                <a:solidFill>
                  <a:srgbClr val="1B4332"/>
                </a:solidFill>
                <a:latin typeface="Cambria" pitchFamily="34" charset="0"/>
                <a:ea typeface="Cambria" pitchFamily="34" charset="-122"/>
                <a:cs typeface="Cambria" pitchFamily="34" charset="-120"/>
              </a:rPr>
              <a:t>Scheduling Optimization</a:t>
            </a:r>
            <a:endParaRPr lang="en-US" sz="1350" dirty="0"/>
          </a:p>
        </p:txBody>
      </p:sp>
      <p:sp>
        <p:nvSpPr>
          <p:cNvPr id="27" name="Text 21"/>
          <p:cNvSpPr/>
          <p:nvPr/>
        </p:nvSpPr>
        <p:spPr>
          <a:xfrm>
            <a:off x="7447788" y="3977640"/>
            <a:ext cx="1792224" cy="1783080"/>
          </a:xfrm>
          <a:prstGeom prst="rect">
            <a:avLst/>
          </a:prstGeom>
          <a:noFill/>
          <a:ln/>
        </p:spPr>
        <p:txBody>
          <a:bodyPr wrap="square" lIns="0" tIns="0" rIns="0" bIns="0" rtlCol="0" anchor="ctr"/>
          <a:lstStyle/>
          <a:p>
            <a:pPr marL="0" indent="0" algn="ctr">
              <a:lnSpc>
                <a:spcPct val="118000"/>
              </a:lnSpc>
              <a:buNone/>
            </a:pPr>
            <a:r>
              <a:rPr lang="en-US" sz="1000" dirty="0">
                <a:solidFill>
                  <a:srgbClr val="1B2B22"/>
                </a:solidFill>
                <a:latin typeface="Calibri" pitchFamily="34" charset="0"/>
                <a:ea typeface="Calibri" pitchFamily="34" charset="-122"/>
                <a:cs typeface="Calibri" pitchFamily="34" charset="-120"/>
              </a:rPr>
              <a:t>Use historical production data to optimize batch scheduling and eliminate concurrent-assignment overlaps.</a:t>
            </a:r>
            <a:endParaRPr lang="en-US" sz="1000" dirty="0"/>
          </a:p>
        </p:txBody>
      </p:sp>
      <p:sp>
        <p:nvSpPr>
          <p:cNvPr id="28" name="Shape 22"/>
          <p:cNvSpPr/>
          <p:nvPr/>
        </p:nvSpPr>
        <p:spPr>
          <a:xfrm>
            <a:off x="9528048" y="1737360"/>
            <a:ext cx="2121408" cy="4114800"/>
          </a:xfrm>
          <a:prstGeom prst="roundRect">
            <a:avLst>
              <a:gd name="adj" fmla="val 3017"/>
            </a:avLst>
          </a:prstGeom>
          <a:solidFill>
            <a:srgbClr val="EAF4EE"/>
          </a:solidFill>
          <a:ln w="12700">
            <a:solidFill>
              <a:srgbClr val="C9DED2"/>
            </a:solidFill>
            <a:prstDash val="solid"/>
          </a:ln>
        </p:spPr>
      </p:sp>
      <p:sp>
        <p:nvSpPr>
          <p:cNvPr id="29" name="Text 23"/>
          <p:cNvSpPr/>
          <p:nvPr/>
        </p:nvSpPr>
        <p:spPr>
          <a:xfrm>
            <a:off x="9665208" y="1874520"/>
            <a:ext cx="1097280" cy="457200"/>
          </a:xfrm>
          <a:prstGeom prst="rect">
            <a:avLst/>
          </a:prstGeom>
          <a:noFill/>
          <a:ln/>
        </p:spPr>
        <p:txBody>
          <a:bodyPr wrap="square" lIns="0" tIns="0" rIns="0" bIns="0" rtlCol="0" anchor="ctr"/>
          <a:lstStyle/>
          <a:p>
            <a:pPr marL="0" indent="0">
              <a:buNone/>
            </a:pPr>
            <a:r>
              <a:rPr lang="en-US" sz="2000" b="1" dirty="0">
                <a:solidFill>
                  <a:srgbClr val="C9DED2"/>
                </a:solidFill>
                <a:latin typeface="Cambria" pitchFamily="34" charset="0"/>
                <a:ea typeface="Cambria" pitchFamily="34" charset="-122"/>
                <a:cs typeface="Cambria" pitchFamily="34" charset="-120"/>
              </a:rPr>
              <a:t>05</a:t>
            </a:r>
            <a:endParaRPr lang="en-US" sz="2000" dirty="0"/>
          </a:p>
        </p:txBody>
      </p:sp>
      <p:sp>
        <p:nvSpPr>
          <p:cNvPr id="30" name="Shape 24"/>
          <p:cNvSpPr/>
          <p:nvPr/>
        </p:nvSpPr>
        <p:spPr>
          <a:xfrm>
            <a:off x="10222992" y="2377440"/>
            <a:ext cx="731520" cy="731520"/>
          </a:xfrm>
          <a:prstGeom prst="ellipse">
            <a:avLst/>
          </a:prstGeom>
          <a:solidFill>
            <a:srgbClr val="2D6A4F"/>
          </a:solidFill>
          <a:ln/>
        </p:spPr>
      </p:sp>
      <p:pic>
        <p:nvPicPr>
          <p:cNvPr id="31" name="Image 4" descr="/home/claude/icons/satellite_white.png"/>
          <p:cNvPicPr>
            <a:picLocks noChangeAspect="1"/>
          </p:cNvPicPr>
          <p:nvPr/>
        </p:nvPicPr>
        <p:blipFill>
          <a:blip r:embed="rId7"/>
          <a:stretch>
            <a:fillRect/>
          </a:stretch>
        </p:blipFill>
        <p:spPr>
          <a:xfrm>
            <a:off x="10405872" y="2560320"/>
            <a:ext cx="365760" cy="365760"/>
          </a:xfrm>
          <a:prstGeom prst="rect">
            <a:avLst/>
          </a:prstGeom>
        </p:spPr>
      </p:pic>
      <p:sp>
        <p:nvSpPr>
          <p:cNvPr id="32" name="Text 25"/>
          <p:cNvSpPr/>
          <p:nvPr/>
        </p:nvSpPr>
        <p:spPr>
          <a:xfrm>
            <a:off x="9665208" y="3291840"/>
            <a:ext cx="1847088" cy="640080"/>
          </a:xfrm>
          <a:prstGeom prst="rect">
            <a:avLst/>
          </a:prstGeom>
          <a:noFill/>
          <a:ln/>
        </p:spPr>
        <p:txBody>
          <a:bodyPr wrap="square" lIns="0" tIns="0" rIns="0" bIns="0" rtlCol="0" anchor="ctr"/>
          <a:lstStyle/>
          <a:p>
            <a:pPr marL="0" indent="0" algn="ctr">
              <a:buNone/>
            </a:pPr>
            <a:r>
              <a:rPr lang="en-US" sz="1350" b="1" dirty="0">
                <a:solidFill>
                  <a:srgbClr val="1B4332"/>
                </a:solidFill>
                <a:latin typeface="Cambria" pitchFamily="34" charset="0"/>
                <a:ea typeface="Cambria" pitchFamily="34" charset="-122"/>
                <a:cs typeface="Cambria" pitchFamily="34" charset="-120"/>
              </a:rPr>
              <a:t>Real-Time Monitoring</a:t>
            </a:r>
            <a:endParaRPr lang="en-US" sz="1350" dirty="0"/>
          </a:p>
        </p:txBody>
      </p:sp>
      <p:sp>
        <p:nvSpPr>
          <p:cNvPr id="33" name="Text 26"/>
          <p:cNvSpPr/>
          <p:nvPr/>
        </p:nvSpPr>
        <p:spPr>
          <a:xfrm>
            <a:off x="9692640" y="3977640"/>
            <a:ext cx="1792224" cy="1783080"/>
          </a:xfrm>
          <a:prstGeom prst="rect">
            <a:avLst/>
          </a:prstGeom>
          <a:noFill/>
          <a:ln/>
        </p:spPr>
        <p:txBody>
          <a:bodyPr wrap="square" lIns="0" tIns="0" rIns="0" bIns="0" rtlCol="0" anchor="ctr"/>
          <a:lstStyle/>
          <a:p>
            <a:pPr marL="0" indent="0" algn="ctr">
              <a:lnSpc>
                <a:spcPct val="118000"/>
              </a:lnSpc>
              <a:buNone/>
            </a:pPr>
            <a:r>
              <a:rPr lang="en-US" sz="1000" dirty="0">
                <a:solidFill>
                  <a:srgbClr val="1B2B22"/>
                </a:solidFill>
                <a:latin typeface="Calibri" pitchFamily="34" charset="0"/>
                <a:ea typeface="Calibri" pitchFamily="34" charset="-122"/>
                <a:cs typeface="Calibri" pitchFamily="34" charset="-120"/>
              </a:rPr>
              <a:t>Adopt real-time dashboards so leadership can make faster, better-informed operational decisions.</a:t>
            </a:r>
            <a:endParaRPr lang="en-US" sz="1000" dirty="0"/>
          </a:p>
        </p:txBody>
      </p:sp>
      <p:sp>
        <p:nvSpPr>
          <p:cNvPr id="34" name="Text 2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35" name="Text 2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PERSONAL GROWTH</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Skills Gained</a:t>
            </a:r>
            <a:endParaRPr lang="en-US" sz="3000" dirty="0"/>
          </a:p>
        </p:txBody>
      </p:sp>
      <p:sp>
        <p:nvSpPr>
          <p:cNvPr id="4" name="Text 2"/>
          <p:cNvSpPr/>
          <p:nvPr/>
        </p:nvSpPr>
        <p:spPr>
          <a:xfrm>
            <a:off x="548640" y="1417320"/>
            <a:ext cx="10881360" cy="457200"/>
          </a:xfrm>
          <a:prstGeom prst="rect">
            <a:avLst/>
          </a:prstGeom>
          <a:noFill/>
          <a:ln/>
        </p:spPr>
        <p:txBody>
          <a:bodyPr wrap="square" lIns="0" tIns="0" rIns="0" bIns="0" rtlCol="0" anchor="ctr"/>
          <a:lstStyle/>
          <a:p>
            <a:pPr marL="0" indent="0">
              <a:buNone/>
            </a:pPr>
            <a:r>
              <a:rPr lang="en-US" sz="1350" i="1" dirty="0">
                <a:solidFill>
                  <a:srgbClr val="5B7B6A"/>
                </a:solidFill>
                <a:latin typeface="Calibri" pitchFamily="34" charset="0"/>
                <a:ea typeface="Calibri" pitchFamily="34" charset="-122"/>
                <a:cs typeface="Calibri" pitchFamily="34" charset="-120"/>
              </a:rPr>
              <a:t>This project was as much a technical development exercise as it was a business deliverable.</a:t>
            </a:r>
            <a:endParaRPr lang="en-US" sz="1350" dirty="0"/>
          </a:p>
        </p:txBody>
      </p:sp>
      <p:sp>
        <p:nvSpPr>
          <p:cNvPr id="5" name="Shape 3"/>
          <p:cNvSpPr/>
          <p:nvPr/>
        </p:nvSpPr>
        <p:spPr>
          <a:xfrm>
            <a:off x="548640" y="2057400"/>
            <a:ext cx="3520440" cy="1417320"/>
          </a:xfrm>
          <a:prstGeom prst="roundRect">
            <a:avLst>
              <a:gd name="adj" fmla="val 4516"/>
            </a:avLst>
          </a:prstGeom>
          <a:solidFill>
            <a:srgbClr val="FFFFFF"/>
          </a:solidFill>
          <a:ln w="12700">
            <a:solidFill>
              <a:srgbClr val="C9DED2"/>
            </a:solidFill>
            <a:prstDash val="solid"/>
          </a:ln>
        </p:spPr>
      </p:sp>
      <p:sp>
        <p:nvSpPr>
          <p:cNvPr id="6" name="Shape 4"/>
          <p:cNvSpPr/>
          <p:nvPr/>
        </p:nvSpPr>
        <p:spPr>
          <a:xfrm>
            <a:off x="749808" y="2423160"/>
            <a:ext cx="685800" cy="685800"/>
          </a:xfrm>
          <a:prstGeom prst="ellipse">
            <a:avLst/>
          </a:prstGeom>
          <a:solidFill>
            <a:srgbClr val="DCEEE2"/>
          </a:solidFill>
          <a:ln/>
        </p:spPr>
      </p:sp>
      <p:pic>
        <p:nvPicPr>
          <p:cNvPr id="7" name="Image 0" descr="/home/claude/icons/database_mid.png"/>
          <p:cNvPicPr>
            <a:picLocks noChangeAspect="1"/>
          </p:cNvPicPr>
          <p:nvPr/>
        </p:nvPicPr>
        <p:blipFill>
          <a:blip r:embed="rId3"/>
          <a:stretch>
            <a:fillRect/>
          </a:stretch>
        </p:blipFill>
        <p:spPr>
          <a:xfrm>
            <a:off x="921258" y="2594610"/>
            <a:ext cx="342900" cy="342900"/>
          </a:xfrm>
          <a:prstGeom prst="rect">
            <a:avLst/>
          </a:prstGeom>
        </p:spPr>
      </p:pic>
      <p:sp>
        <p:nvSpPr>
          <p:cNvPr id="8" name="Text 5"/>
          <p:cNvSpPr/>
          <p:nvPr/>
        </p:nvSpPr>
        <p:spPr>
          <a:xfrm>
            <a:off x="1600200" y="2221992"/>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PostgreSQL</a:t>
            </a:r>
            <a:endParaRPr lang="en-US" sz="1450" dirty="0"/>
          </a:p>
        </p:txBody>
      </p:sp>
      <p:sp>
        <p:nvSpPr>
          <p:cNvPr id="9" name="Text 6"/>
          <p:cNvSpPr/>
          <p:nvPr/>
        </p:nvSpPr>
        <p:spPr>
          <a:xfrm>
            <a:off x="1600200" y="2606040"/>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Querying and managing relational production data</a:t>
            </a:r>
            <a:endParaRPr lang="en-US" sz="1050" dirty="0"/>
          </a:p>
        </p:txBody>
      </p:sp>
      <p:sp>
        <p:nvSpPr>
          <p:cNvPr id="10" name="Shape 7"/>
          <p:cNvSpPr/>
          <p:nvPr/>
        </p:nvSpPr>
        <p:spPr>
          <a:xfrm>
            <a:off x="4251960" y="2057400"/>
            <a:ext cx="3520440" cy="1417320"/>
          </a:xfrm>
          <a:prstGeom prst="roundRect">
            <a:avLst>
              <a:gd name="adj" fmla="val 4516"/>
            </a:avLst>
          </a:prstGeom>
          <a:solidFill>
            <a:srgbClr val="FFFFFF"/>
          </a:solidFill>
          <a:ln w="12700">
            <a:solidFill>
              <a:srgbClr val="C9DED2"/>
            </a:solidFill>
            <a:prstDash val="solid"/>
          </a:ln>
        </p:spPr>
      </p:sp>
      <p:sp>
        <p:nvSpPr>
          <p:cNvPr id="11" name="Shape 8"/>
          <p:cNvSpPr/>
          <p:nvPr/>
        </p:nvSpPr>
        <p:spPr>
          <a:xfrm>
            <a:off x="4453128" y="2423160"/>
            <a:ext cx="685800" cy="685800"/>
          </a:xfrm>
          <a:prstGeom prst="ellipse">
            <a:avLst/>
          </a:prstGeom>
          <a:solidFill>
            <a:srgbClr val="DCEEE2"/>
          </a:solidFill>
          <a:ln/>
        </p:spPr>
      </p:sp>
      <p:pic>
        <p:nvPicPr>
          <p:cNvPr id="12" name="Image 1" descr="/home/claude/icons/code_mid.png"/>
          <p:cNvPicPr>
            <a:picLocks noChangeAspect="1"/>
          </p:cNvPicPr>
          <p:nvPr/>
        </p:nvPicPr>
        <p:blipFill>
          <a:blip r:embed="rId4"/>
          <a:stretch>
            <a:fillRect/>
          </a:stretch>
        </p:blipFill>
        <p:spPr>
          <a:xfrm>
            <a:off x="4624578" y="2594610"/>
            <a:ext cx="342900" cy="342900"/>
          </a:xfrm>
          <a:prstGeom prst="rect">
            <a:avLst/>
          </a:prstGeom>
        </p:spPr>
      </p:pic>
      <p:sp>
        <p:nvSpPr>
          <p:cNvPr id="13" name="Text 9"/>
          <p:cNvSpPr/>
          <p:nvPr/>
        </p:nvSpPr>
        <p:spPr>
          <a:xfrm>
            <a:off x="5303520" y="2221992"/>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SQL</a:t>
            </a:r>
            <a:endParaRPr lang="en-US" sz="1450" dirty="0"/>
          </a:p>
        </p:txBody>
      </p:sp>
      <p:sp>
        <p:nvSpPr>
          <p:cNvPr id="14" name="Text 10"/>
          <p:cNvSpPr/>
          <p:nvPr/>
        </p:nvSpPr>
        <p:spPr>
          <a:xfrm>
            <a:off x="5303520" y="2606040"/>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Writing queries to extract and validate operational records</a:t>
            </a:r>
            <a:endParaRPr lang="en-US" sz="1050" dirty="0"/>
          </a:p>
        </p:txBody>
      </p:sp>
      <p:sp>
        <p:nvSpPr>
          <p:cNvPr id="15" name="Shape 11"/>
          <p:cNvSpPr/>
          <p:nvPr/>
        </p:nvSpPr>
        <p:spPr>
          <a:xfrm>
            <a:off x="7955280" y="2057400"/>
            <a:ext cx="3520440" cy="1417320"/>
          </a:xfrm>
          <a:prstGeom prst="roundRect">
            <a:avLst>
              <a:gd name="adj" fmla="val 4516"/>
            </a:avLst>
          </a:prstGeom>
          <a:solidFill>
            <a:srgbClr val="FFFFFF"/>
          </a:solidFill>
          <a:ln w="12700">
            <a:solidFill>
              <a:srgbClr val="C9DED2"/>
            </a:solidFill>
            <a:prstDash val="solid"/>
          </a:ln>
        </p:spPr>
      </p:sp>
      <p:sp>
        <p:nvSpPr>
          <p:cNvPr id="16" name="Shape 12"/>
          <p:cNvSpPr/>
          <p:nvPr/>
        </p:nvSpPr>
        <p:spPr>
          <a:xfrm>
            <a:off x="8156448" y="2423160"/>
            <a:ext cx="685800" cy="685800"/>
          </a:xfrm>
          <a:prstGeom prst="ellipse">
            <a:avLst/>
          </a:prstGeom>
          <a:solidFill>
            <a:srgbClr val="DCEEE2"/>
          </a:solidFill>
          <a:ln/>
        </p:spPr>
      </p:sp>
      <p:pic>
        <p:nvPicPr>
          <p:cNvPr id="17" name="Image 2" descr="/home/claude/icons/dashboard_mid.png"/>
          <p:cNvPicPr>
            <a:picLocks noChangeAspect="1"/>
          </p:cNvPicPr>
          <p:nvPr/>
        </p:nvPicPr>
        <p:blipFill>
          <a:blip r:embed="rId5"/>
          <a:stretch>
            <a:fillRect/>
          </a:stretch>
        </p:blipFill>
        <p:spPr>
          <a:xfrm>
            <a:off x="8327898" y="2594610"/>
            <a:ext cx="342900" cy="342900"/>
          </a:xfrm>
          <a:prstGeom prst="rect">
            <a:avLst/>
          </a:prstGeom>
        </p:spPr>
      </p:pic>
      <p:sp>
        <p:nvSpPr>
          <p:cNvPr id="18" name="Text 13"/>
          <p:cNvSpPr/>
          <p:nvPr/>
        </p:nvSpPr>
        <p:spPr>
          <a:xfrm>
            <a:off x="9006840" y="2221992"/>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Power BI</a:t>
            </a:r>
            <a:endParaRPr lang="en-US" sz="1450" dirty="0"/>
          </a:p>
        </p:txBody>
      </p:sp>
      <p:sp>
        <p:nvSpPr>
          <p:cNvPr id="19" name="Text 14"/>
          <p:cNvSpPr/>
          <p:nvPr/>
        </p:nvSpPr>
        <p:spPr>
          <a:xfrm>
            <a:off x="9006840" y="2606040"/>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Building interactive, stakeholder-ready dashboards</a:t>
            </a:r>
            <a:endParaRPr lang="en-US" sz="1050" dirty="0"/>
          </a:p>
        </p:txBody>
      </p:sp>
      <p:sp>
        <p:nvSpPr>
          <p:cNvPr id="20" name="Shape 15"/>
          <p:cNvSpPr/>
          <p:nvPr/>
        </p:nvSpPr>
        <p:spPr>
          <a:xfrm>
            <a:off x="548640" y="3675888"/>
            <a:ext cx="3520440" cy="1417320"/>
          </a:xfrm>
          <a:prstGeom prst="roundRect">
            <a:avLst>
              <a:gd name="adj" fmla="val 4516"/>
            </a:avLst>
          </a:prstGeom>
          <a:solidFill>
            <a:srgbClr val="FFFFFF"/>
          </a:solidFill>
          <a:ln w="12700">
            <a:solidFill>
              <a:srgbClr val="C9DED2"/>
            </a:solidFill>
            <a:prstDash val="solid"/>
          </a:ln>
        </p:spPr>
      </p:sp>
      <p:sp>
        <p:nvSpPr>
          <p:cNvPr id="21" name="Shape 16"/>
          <p:cNvSpPr/>
          <p:nvPr/>
        </p:nvSpPr>
        <p:spPr>
          <a:xfrm>
            <a:off x="749808" y="4041648"/>
            <a:ext cx="685800" cy="685800"/>
          </a:xfrm>
          <a:prstGeom prst="ellipse">
            <a:avLst/>
          </a:prstGeom>
          <a:solidFill>
            <a:srgbClr val="DCEEE2"/>
          </a:solidFill>
          <a:ln/>
        </p:spPr>
      </p:sp>
      <p:pic>
        <p:nvPicPr>
          <p:cNvPr id="22" name="Image 3" descr="/home/claude/icons/calculator_mid.png"/>
          <p:cNvPicPr>
            <a:picLocks noChangeAspect="1"/>
          </p:cNvPicPr>
          <p:nvPr/>
        </p:nvPicPr>
        <p:blipFill>
          <a:blip r:embed="rId6"/>
          <a:stretch>
            <a:fillRect/>
          </a:stretch>
        </p:blipFill>
        <p:spPr>
          <a:xfrm>
            <a:off x="921258" y="4213098"/>
            <a:ext cx="342900" cy="342900"/>
          </a:xfrm>
          <a:prstGeom prst="rect">
            <a:avLst/>
          </a:prstGeom>
        </p:spPr>
      </p:pic>
      <p:sp>
        <p:nvSpPr>
          <p:cNvPr id="23" name="Text 17"/>
          <p:cNvSpPr/>
          <p:nvPr/>
        </p:nvSpPr>
        <p:spPr>
          <a:xfrm>
            <a:off x="1600200" y="3840480"/>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DAX</a:t>
            </a:r>
            <a:endParaRPr lang="en-US" sz="1450" dirty="0"/>
          </a:p>
        </p:txBody>
      </p:sp>
      <p:sp>
        <p:nvSpPr>
          <p:cNvPr id="24" name="Text 18"/>
          <p:cNvSpPr/>
          <p:nvPr/>
        </p:nvSpPr>
        <p:spPr>
          <a:xfrm>
            <a:off x="1600200" y="4224528"/>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Authoring custom measures to power live KPIs</a:t>
            </a:r>
            <a:endParaRPr lang="en-US" sz="1050" dirty="0"/>
          </a:p>
        </p:txBody>
      </p:sp>
      <p:sp>
        <p:nvSpPr>
          <p:cNvPr id="25" name="Shape 19"/>
          <p:cNvSpPr/>
          <p:nvPr/>
        </p:nvSpPr>
        <p:spPr>
          <a:xfrm>
            <a:off x="4251960" y="3675888"/>
            <a:ext cx="3520440" cy="1417320"/>
          </a:xfrm>
          <a:prstGeom prst="roundRect">
            <a:avLst>
              <a:gd name="adj" fmla="val 4516"/>
            </a:avLst>
          </a:prstGeom>
          <a:solidFill>
            <a:srgbClr val="FFFFFF"/>
          </a:solidFill>
          <a:ln w="12700">
            <a:solidFill>
              <a:srgbClr val="C9DED2"/>
            </a:solidFill>
            <a:prstDash val="solid"/>
          </a:ln>
        </p:spPr>
      </p:sp>
      <p:sp>
        <p:nvSpPr>
          <p:cNvPr id="26" name="Shape 20"/>
          <p:cNvSpPr/>
          <p:nvPr/>
        </p:nvSpPr>
        <p:spPr>
          <a:xfrm>
            <a:off x="4453128" y="4041648"/>
            <a:ext cx="685800" cy="685800"/>
          </a:xfrm>
          <a:prstGeom prst="ellipse">
            <a:avLst/>
          </a:prstGeom>
          <a:solidFill>
            <a:srgbClr val="DCEEE2"/>
          </a:solidFill>
          <a:ln/>
        </p:spPr>
      </p:sp>
      <p:pic>
        <p:nvPicPr>
          <p:cNvPr id="27" name="Image 4" descr="/home/claude/icons/layers_mid.png"/>
          <p:cNvPicPr>
            <a:picLocks noChangeAspect="1"/>
          </p:cNvPicPr>
          <p:nvPr/>
        </p:nvPicPr>
        <p:blipFill>
          <a:blip r:embed="rId7"/>
          <a:stretch>
            <a:fillRect/>
          </a:stretch>
        </p:blipFill>
        <p:spPr>
          <a:xfrm>
            <a:off x="4624578" y="4213098"/>
            <a:ext cx="342900" cy="342900"/>
          </a:xfrm>
          <a:prstGeom prst="rect">
            <a:avLst/>
          </a:prstGeom>
        </p:spPr>
      </p:pic>
      <p:sp>
        <p:nvSpPr>
          <p:cNvPr id="28" name="Text 21"/>
          <p:cNvSpPr/>
          <p:nvPr/>
        </p:nvSpPr>
        <p:spPr>
          <a:xfrm>
            <a:off x="5303520" y="3840480"/>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Dashboard Design</a:t>
            </a:r>
            <a:endParaRPr lang="en-US" sz="1450" dirty="0"/>
          </a:p>
        </p:txBody>
      </p:sp>
      <p:sp>
        <p:nvSpPr>
          <p:cNvPr id="29" name="Text 22"/>
          <p:cNvSpPr/>
          <p:nvPr/>
        </p:nvSpPr>
        <p:spPr>
          <a:xfrm>
            <a:off x="5303520" y="4224528"/>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Structuring layouts for clarity and self-service exploration</a:t>
            </a:r>
            <a:endParaRPr lang="en-US" sz="1050" dirty="0"/>
          </a:p>
        </p:txBody>
      </p:sp>
      <p:sp>
        <p:nvSpPr>
          <p:cNvPr id="30" name="Shape 23"/>
          <p:cNvSpPr/>
          <p:nvPr/>
        </p:nvSpPr>
        <p:spPr>
          <a:xfrm>
            <a:off x="7955280" y="3675888"/>
            <a:ext cx="3520440" cy="1417320"/>
          </a:xfrm>
          <a:prstGeom prst="roundRect">
            <a:avLst>
              <a:gd name="adj" fmla="val 4516"/>
            </a:avLst>
          </a:prstGeom>
          <a:solidFill>
            <a:srgbClr val="FFFFFF"/>
          </a:solidFill>
          <a:ln w="12700">
            <a:solidFill>
              <a:srgbClr val="C9DED2"/>
            </a:solidFill>
            <a:prstDash val="solid"/>
          </a:ln>
        </p:spPr>
      </p:sp>
      <p:sp>
        <p:nvSpPr>
          <p:cNvPr id="31" name="Shape 24"/>
          <p:cNvSpPr/>
          <p:nvPr/>
        </p:nvSpPr>
        <p:spPr>
          <a:xfrm>
            <a:off x="8156448" y="4041648"/>
            <a:ext cx="685800" cy="685800"/>
          </a:xfrm>
          <a:prstGeom prst="ellipse">
            <a:avLst/>
          </a:prstGeom>
          <a:solidFill>
            <a:srgbClr val="DCEEE2"/>
          </a:solidFill>
          <a:ln/>
        </p:spPr>
      </p:sp>
      <p:pic>
        <p:nvPicPr>
          <p:cNvPr id="32" name="Image 5" descr="/home/claude/icons/brain_mid.png"/>
          <p:cNvPicPr>
            <a:picLocks noChangeAspect="1"/>
          </p:cNvPicPr>
          <p:nvPr/>
        </p:nvPicPr>
        <p:blipFill>
          <a:blip r:embed="rId8"/>
          <a:stretch>
            <a:fillRect/>
          </a:stretch>
        </p:blipFill>
        <p:spPr>
          <a:xfrm>
            <a:off x="8327898" y="4213098"/>
            <a:ext cx="342900" cy="342900"/>
          </a:xfrm>
          <a:prstGeom prst="rect">
            <a:avLst/>
          </a:prstGeom>
        </p:spPr>
      </p:pic>
      <p:sp>
        <p:nvSpPr>
          <p:cNvPr id="33" name="Text 25"/>
          <p:cNvSpPr/>
          <p:nvPr/>
        </p:nvSpPr>
        <p:spPr>
          <a:xfrm>
            <a:off x="9006840" y="3840480"/>
            <a:ext cx="2331720" cy="365760"/>
          </a:xfrm>
          <a:prstGeom prst="rect">
            <a:avLst/>
          </a:prstGeom>
          <a:noFill/>
          <a:ln/>
        </p:spPr>
        <p:txBody>
          <a:bodyPr wrap="square" lIns="0" tIns="0" rIns="0" bIns="0" rtlCol="0" anchor="ctr"/>
          <a:lstStyle/>
          <a:p>
            <a:pPr marL="0" indent="0">
              <a:buNone/>
            </a:pPr>
            <a:r>
              <a:rPr lang="en-US" sz="1450" b="1" dirty="0">
                <a:solidFill>
                  <a:srgbClr val="1B4332"/>
                </a:solidFill>
                <a:latin typeface="Cambria" pitchFamily="34" charset="0"/>
                <a:ea typeface="Cambria" pitchFamily="34" charset="-122"/>
                <a:cs typeface="Cambria" pitchFamily="34" charset="-120"/>
              </a:rPr>
              <a:t>Data Storytelling</a:t>
            </a:r>
            <a:endParaRPr lang="en-US" sz="1450" dirty="0"/>
          </a:p>
        </p:txBody>
      </p:sp>
      <p:sp>
        <p:nvSpPr>
          <p:cNvPr id="34" name="Text 26"/>
          <p:cNvSpPr/>
          <p:nvPr/>
        </p:nvSpPr>
        <p:spPr>
          <a:xfrm>
            <a:off x="9006840" y="4224528"/>
            <a:ext cx="2331720" cy="777240"/>
          </a:xfrm>
          <a:prstGeom prst="rect">
            <a:avLst/>
          </a:prstGeom>
          <a:noFill/>
          <a:ln/>
        </p:spPr>
        <p:txBody>
          <a:bodyPr wrap="square" lIns="0" tIns="0" rIns="0" bIns="0" rtlCol="0" anchor="ctr"/>
          <a:lstStyle/>
          <a:p>
            <a:pPr marL="0" indent="0">
              <a:lnSpc>
                <a:spcPct val="115000"/>
              </a:lnSpc>
              <a:buNone/>
            </a:pPr>
            <a:r>
              <a:rPr lang="en-US" sz="1050" dirty="0">
                <a:solidFill>
                  <a:srgbClr val="5B7B6A"/>
                </a:solidFill>
                <a:latin typeface="Calibri" pitchFamily="34" charset="0"/>
                <a:ea typeface="Calibri" pitchFamily="34" charset="-122"/>
                <a:cs typeface="Calibri" pitchFamily="34" charset="-120"/>
              </a:rPr>
              <a:t>Translating raw data into a clear business narrative</a:t>
            </a:r>
            <a:endParaRPr lang="en-US" sz="1050" dirty="0"/>
          </a:p>
        </p:txBody>
      </p:sp>
      <p:sp>
        <p:nvSpPr>
          <p:cNvPr id="35" name="Text 2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36" name="Text 2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LOOKING BACK</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Reflection &amp; Lessons Learned</a:t>
            </a:r>
            <a:endParaRPr lang="en-US" sz="3000" dirty="0"/>
          </a:p>
        </p:txBody>
      </p:sp>
      <p:sp>
        <p:nvSpPr>
          <p:cNvPr id="4" name="Shape 2"/>
          <p:cNvSpPr/>
          <p:nvPr/>
        </p:nvSpPr>
        <p:spPr>
          <a:xfrm>
            <a:off x="548640" y="1691640"/>
            <a:ext cx="10881360" cy="1417320"/>
          </a:xfrm>
          <a:prstGeom prst="roundRect">
            <a:avLst>
              <a:gd name="adj" fmla="val 4516"/>
            </a:avLst>
          </a:prstGeom>
          <a:solidFill>
            <a:srgbClr val="EAF4EE"/>
          </a:solidFill>
          <a:ln w="12700">
            <a:solidFill>
              <a:srgbClr val="C9DED2"/>
            </a:solidFill>
            <a:prstDash val="solid"/>
          </a:ln>
        </p:spPr>
      </p:sp>
      <p:sp>
        <p:nvSpPr>
          <p:cNvPr id="5" name="Shape 3"/>
          <p:cNvSpPr/>
          <p:nvPr/>
        </p:nvSpPr>
        <p:spPr>
          <a:xfrm>
            <a:off x="822960" y="1965960"/>
            <a:ext cx="868680" cy="868680"/>
          </a:xfrm>
          <a:prstGeom prst="ellipse">
            <a:avLst/>
          </a:prstGeom>
          <a:solidFill>
            <a:srgbClr val="FFFFFF"/>
          </a:solidFill>
          <a:ln/>
        </p:spPr>
      </p:sp>
      <p:pic>
        <p:nvPicPr>
          <p:cNvPr id="6" name="Image 0" descr="/home/claude/icons/puzzle_mid.png"/>
          <p:cNvPicPr>
            <a:picLocks noChangeAspect="1"/>
          </p:cNvPicPr>
          <p:nvPr/>
        </p:nvPicPr>
        <p:blipFill>
          <a:blip r:embed="rId3"/>
          <a:stretch>
            <a:fillRect/>
          </a:stretch>
        </p:blipFill>
        <p:spPr>
          <a:xfrm>
            <a:off x="1040130" y="2183130"/>
            <a:ext cx="434340" cy="434340"/>
          </a:xfrm>
          <a:prstGeom prst="rect">
            <a:avLst/>
          </a:prstGeom>
        </p:spPr>
      </p:pic>
      <p:sp>
        <p:nvSpPr>
          <p:cNvPr id="7" name="Text 4"/>
          <p:cNvSpPr/>
          <p:nvPr/>
        </p:nvSpPr>
        <p:spPr>
          <a:xfrm>
            <a:off x="1965960" y="1874520"/>
            <a:ext cx="9235440" cy="1097280"/>
          </a:xfrm>
          <a:prstGeom prst="rect">
            <a:avLst/>
          </a:prstGeom>
          <a:noFill/>
          <a:ln/>
        </p:spPr>
        <p:txBody>
          <a:bodyPr wrap="square" lIns="0" tIns="0" rIns="0" bIns="0" rtlCol="0" anchor="ctr"/>
          <a:lstStyle/>
          <a:p>
            <a:pPr marL="0" indent="0">
              <a:lnSpc>
                <a:spcPct val="120000"/>
              </a:lnSpc>
              <a:buNone/>
            </a:pPr>
            <a:r>
              <a:rPr lang="en-US" sz="1550" b="1" dirty="0">
                <a:solidFill>
                  <a:srgbClr val="1B4332"/>
                </a:solidFill>
                <a:latin typeface="Cambria" pitchFamily="34" charset="0"/>
                <a:ea typeface="Cambria" pitchFamily="34" charset="-122"/>
                <a:cs typeface="Cambria" pitchFamily="34" charset="-120"/>
              </a:rPr>
              <a:t>This project demonstrated how data analytics can be leveraged to solve real operational business problems — not just describe them.</a:t>
            </a:r>
            <a:endParaRPr lang="en-US" sz="1550" dirty="0"/>
          </a:p>
        </p:txBody>
      </p:sp>
      <p:sp>
        <p:nvSpPr>
          <p:cNvPr id="8" name="Shape 5"/>
          <p:cNvSpPr/>
          <p:nvPr/>
        </p:nvSpPr>
        <p:spPr>
          <a:xfrm>
            <a:off x="548640" y="3337560"/>
            <a:ext cx="5376672" cy="2514600"/>
          </a:xfrm>
          <a:prstGeom prst="roundRect">
            <a:avLst>
              <a:gd name="adj" fmla="val 2545"/>
            </a:avLst>
          </a:prstGeom>
          <a:solidFill>
            <a:srgbClr val="FFFFFF"/>
          </a:solidFill>
          <a:ln w="12700">
            <a:solidFill>
              <a:srgbClr val="C9DED2"/>
            </a:solidFill>
            <a:prstDash val="solid"/>
          </a:ln>
        </p:spPr>
      </p:sp>
      <p:sp>
        <p:nvSpPr>
          <p:cNvPr id="9" name="Shape 6"/>
          <p:cNvSpPr/>
          <p:nvPr/>
        </p:nvSpPr>
        <p:spPr>
          <a:xfrm>
            <a:off x="822960" y="3611880"/>
            <a:ext cx="640080" cy="640080"/>
          </a:xfrm>
          <a:prstGeom prst="ellipse">
            <a:avLst/>
          </a:prstGeom>
          <a:solidFill>
            <a:srgbClr val="DCEEE2"/>
          </a:solidFill>
          <a:ln/>
        </p:spPr>
      </p:sp>
      <p:pic>
        <p:nvPicPr>
          <p:cNvPr id="10" name="Image 1" descr="/home/claude/icons/brain_mid.png"/>
          <p:cNvPicPr>
            <a:picLocks noChangeAspect="1"/>
          </p:cNvPicPr>
          <p:nvPr/>
        </p:nvPicPr>
        <p:blipFill>
          <a:blip r:embed="rId4"/>
          <a:stretch>
            <a:fillRect/>
          </a:stretch>
        </p:blipFill>
        <p:spPr>
          <a:xfrm>
            <a:off x="982980" y="3771900"/>
            <a:ext cx="320040" cy="320040"/>
          </a:xfrm>
          <a:prstGeom prst="rect">
            <a:avLst/>
          </a:prstGeom>
        </p:spPr>
      </p:pic>
      <p:sp>
        <p:nvSpPr>
          <p:cNvPr id="11" name="Text 7"/>
          <p:cNvSpPr/>
          <p:nvPr/>
        </p:nvSpPr>
        <p:spPr>
          <a:xfrm>
            <a:off x="1645920" y="3611880"/>
            <a:ext cx="4050792" cy="457200"/>
          </a:xfrm>
          <a:prstGeom prst="rect">
            <a:avLst/>
          </a:prstGeom>
          <a:noFill/>
          <a:ln/>
        </p:spPr>
        <p:txBody>
          <a:bodyPr wrap="square" lIns="0" tIns="0" rIns="0" bIns="0"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Skills Reinforced</a:t>
            </a:r>
            <a:endParaRPr lang="en-US" sz="1500" dirty="0"/>
          </a:p>
        </p:txBody>
      </p:sp>
      <p:sp>
        <p:nvSpPr>
          <p:cNvPr id="12" name="Text 8"/>
          <p:cNvSpPr/>
          <p:nvPr/>
        </p:nvSpPr>
        <p:spPr>
          <a:xfrm>
            <a:off x="822960" y="4251960"/>
            <a:ext cx="4828032" cy="1463040"/>
          </a:xfrm>
          <a:prstGeom prst="rect">
            <a:avLst/>
          </a:prstGeom>
          <a:noFill/>
          <a:ln/>
        </p:spPr>
        <p:txBody>
          <a:bodyPr wrap="square" lIns="0" tIns="0" rIns="0" bIns="0" rtlCol="0" anchor="ctr"/>
          <a:lstStyle/>
          <a:p>
            <a:pPr marL="0" indent="0">
              <a:lnSpc>
                <a:spcPct val="125000"/>
              </a:lnSpc>
              <a:buNone/>
            </a:pPr>
            <a:r>
              <a:rPr lang="en-US" sz="1200" dirty="0">
                <a:solidFill>
                  <a:srgbClr val="1B2B22"/>
                </a:solidFill>
                <a:latin typeface="Calibri" pitchFamily="34" charset="0"/>
                <a:ea typeface="Calibri" pitchFamily="34" charset="-122"/>
                <a:cs typeface="Calibri" pitchFamily="34" charset="-120"/>
              </a:rPr>
              <a:t>SQL, PostgreSQL, Power BI, DAX, dashboard development, data storytelling, and stakeholder communication all came together in one deliverable.</a:t>
            </a:r>
            <a:endParaRPr lang="en-US" sz="1200" dirty="0"/>
          </a:p>
        </p:txBody>
      </p:sp>
      <p:sp>
        <p:nvSpPr>
          <p:cNvPr id="13" name="Shape 9"/>
          <p:cNvSpPr/>
          <p:nvPr/>
        </p:nvSpPr>
        <p:spPr>
          <a:xfrm>
            <a:off x="6053328" y="3337560"/>
            <a:ext cx="5376672" cy="2514600"/>
          </a:xfrm>
          <a:prstGeom prst="roundRect">
            <a:avLst>
              <a:gd name="adj" fmla="val 2545"/>
            </a:avLst>
          </a:prstGeom>
          <a:solidFill>
            <a:srgbClr val="FFFFFF"/>
          </a:solidFill>
          <a:ln w="12700">
            <a:solidFill>
              <a:srgbClr val="C9DED2"/>
            </a:solidFill>
            <a:prstDash val="solid"/>
          </a:ln>
        </p:spPr>
      </p:sp>
      <p:sp>
        <p:nvSpPr>
          <p:cNvPr id="14" name="Shape 10"/>
          <p:cNvSpPr/>
          <p:nvPr/>
        </p:nvSpPr>
        <p:spPr>
          <a:xfrm>
            <a:off x="6327648" y="3611880"/>
            <a:ext cx="640080" cy="640080"/>
          </a:xfrm>
          <a:prstGeom prst="ellipse">
            <a:avLst/>
          </a:prstGeom>
          <a:solidFill>
            <a:srgbClr val="DCEEE2"/>
          </a:solidFill>
          <a:ln/>
        </p:spPr>
      </p:sp>
      <p:pic>
        <p:nvPicPr>
          <p:cNvPr id="15" name="Image 2" descr="/home/claude/icons/lightbulb_mid.png"/>
          <p:cNvPicPr>
            <a:picLocks noChangeAspect="1"/>
          </p:cNvPicPr>
          <p:nvPr/>
        </p:nvPicPr>
        <p:blipFill>
          <a:blip r:embed="rId5"/>
          <a:stretch>
            <a:fillRect/>
          </a:stretch>
        </p:blipFill>
        <p:spPr>
          <a:xfrm>
            <a:off x="6487668" y="3771900"/>
            <a:ext cx="320040" cy="320040"/>
          </a:xfrm>
          <a:prstGeom prst="rect">
            <a:avLst/>
          </a:prstGeom>
        </p:spPr>
      </p:pic>
      <p:sp>
        <p:nvSpPr>
          <p:cNvPr id="16" name="Text 11"/>
          <p:cNvSpPr/>
          <p:nvPr/>
        </p:nvSpPr>
        <p:spPr>
          <a:xfrm>
            <a:off x="7150608" y="3611880"/>
            <a:ext cx="4050792" cy="457200"/>
          </a:xfrm>
          <a:prstGeom prst="rect">
            <a:avLst/>
          </a:prstGeom>
          <a:noFill/>
          <a:ln/>
        </p:spPr>
        <p:txBody>
          <a:bodyPr wrap="square" lIns="0" tIns="0" rIns="0" bIns="0"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Core Lesson</a:t>
            </a:r>
            <a:endParaRPr lang="en-US" sz="1500" dirty="0"/>
          </a:p>
        </p:txBody>
      </p:sp>
      <p:sp>
        <p:nvSpPr>
          <p:cNvPr id="17" name="Text 12"/>
          <p:cNvSpPr/>
          <p:nvPr/>
        </p:nvSpPr>
        <p:spPr>
          <a:xfrm>
            <a:off x="6327648" y="4251960"/>
            <a:ext cx="4828032" cy="1463040"/>
          </a:xfrm>
          <a:prstGeom prst="rect">
            <a:avLst/>
          </a:prstGeom>
          <a:noFill/>
          <a:ln/>
        </p:spPr>
        <p:txBody>
          <a:bodyPr wrap="square" lIns="0" tIns="0" rIns="0" bIns="0" rtlCol="0" anchor="ctr"/>
          <a:lstStyle/>
          <a:p>
            <a:pPr marL="0" indent="0">
              <a:lnSpc>
                <a:spcPct val="125000"/>
              </a:lnSpc>
              <a:buNone/>
            </a:pPr>
            <a:r>
              <a:rPr lang="en-US" sz="1200" dirty="0">
                <a:solidFill>
                  <a:srgbClr val="1B2B22"/>
                </a:solidFill>
                <a:latin typeface="Calibri" pitchFamily="34" charset="0"/>
                <a:ea typeface="Calibri" pitchFamily="34" charset="-122"/>
                <a:cs typeface="Calibri" pitchFamily="34" charset="-120"/>
              </a:rPr>
              <a:t>The greatest value came from transforming raw data into actionable business insight — not from the analysis alone.</a:t>
            </a:r>
            <a:endParaRPr lang="en-US" sz="1200" dirty="0"/>
          </a:p>
        </p:txBody>
      </p:sp>
      <p:sp>
        <p:nvSpPr>
          <p:cNvPr id="18"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875520" y="-2011680"/>
            <a:ext cx="5029200" cy="5029200"/>
          </a:xfrm>
          <a:prstGeom prst="ellipse">
            <a:avLst/>
          </a:prstGeom>
          <a:solidFill>
            <a:srgbClr val="2D6A4F">
              <a:alpha val="45000"/>
            </a:srgbClr>
          </a:solidFill>
          <a:ln/>
        </p:spPr>
      </p:sp>
      <p:sp>
        <p:nvSpPr>
          <p:cNvPr id="3" name="Text 1"/>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95D5B2"/>
                </a:solidFill>
                <a:latin typeface="Calibri" pitchFamily="34" charset="0"/>
                <a:ea typeface="Calibri" pitchFamily="34" charset="-122"/>
                <a:cs typeface="Calibri" pitchFamily="34" charset="-120"/>
              </a:rPr>
              <a:t>WRAPPING UP</a:t>
            </a:r>
            <a:endParaRPr lang="en-US" sz="1300" dirty="0"/>
          </a:p>
        </p:txBody>
      </p:sp>
      <p:sp>
        <p:nvSpPr>
          <p:cNvPr id="4" name="Text 2"/>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Text 3"/>
          <p:cNvSpPr/>
          <p:nvPr/>
        </p:nvSpPr>
        <p:spPr>
          <a:xfrm>
            <a:off x="548640" y="1600200"/>
            <a:ext cx="10515600" cy="640080"/>
          </a:xfrm>
          <a:prstGeom prst="rect">
            <a:avLst/>
          </a:prstGeom>
          <a:noFill/>
          <a:ln/>
        </p:spPr>
        <p:txBody>
          <a:bodyPr wrap="square" lIns="0" tIns="0" rIns="0" bIns="0" rtlCol="0" anchor="ctr"/>
          <a:lstStyle/>
          <a:p>
            <a:pPr marL="0" indent="0">
              <a:buNone/>
            </a:pPr>
            <a:r>
              <a:rPr lang="en-US" sz="1600" i="1" dirty="0">
                <a:solidFill>
                  <a:srgbClr val="D7E9DD"/>
                </a:solidFill>
                <a:latin typeface="Calibri" pitchFamily="34" charset="0"/>
                <a:ea typeface="Calibri" pitchFamily="34" charset="-122"/>
                <a:cs typeface="Calibri" pitchFamily="34" charset="-120"/>
              </a:rPr>
              <a:t>GreenTech now has a clear, data-backed picture of where downtime originates — and a practical roadmap to reduce it.</a:t>
            </a:r>
            <a:endParaRPr lang="en-US" sz="1600" dirty="0"/>
          </a:p>
        </p:txBody>
      </p:sp>
      <p:sp>
        <p:nvSpPr>
          <p:cNvPr id="6" name="Shape 4"/>
          <p:cNvSpPr/>
          <p:nvPr/>
        </p:nvSpPr>
        <p:spPr>
          <a:xfrm>
            <a:off x="548640" y="2514600"/>
            <a:ext cx="457200" cy="457200"/>
          </a:xfrm>
          <a:prstGeom prst="ellipse">
            <a:avLst/>
          </a:prstGeom>
          <a:solidFill>
            <a:srgbClr val="2D6A4F"/>
          </a:solidFill>
          <a:ln/>
        </p:spPr>
      </p:sp>
      <p:pic>
        <p:nvPicPr>
          <p:cNvPr id="7" name="Image 0" descr="/home/claude/icons/check_white.png"/>
          <p:cNvPicPr>
            <a:picLocks noChangeAspect="1"/>
          </p:cNvPicPr>
          <p:nvPr/>
        </p:nvPicPr>
        <p:blipFill>
          <a:blip r:embed="rId3"/>
          <a:stretch>
            <a:fillRect/>
          </a:stretch>
        </p:blipFill>
        <p:spPr>
          <a:xfrm>
            <a:off x="662940" y="2628900"/>
            <a:ext cx="228600" cy="228600"/>
          </a:xfrm>
          <a:prstGeom prst="rect">
            <a:avLst/>
          </a:prstGeom>
        </p:spPr>
      </p:pic>
      <p:sp>
        <p:nvSpPr>
          <p:cNvPr id="8" name="Text 5"/>
          <p:cNvSpPr/>
          <p:nvPr/>
        </p:nvSpPr>
        <p:spPr>
          <a:xfrm>
            <a:off x="1234440" y="2468880"/>
            <a:ext cx="98755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645 batches, 13 downtime factors, and 6 months of data now live in three interactive Power BI dashboards.</a:t>
            </a:r>
            <a:endParaRPr lang="en-US" sz="1350" dirty="0"/>
          </a:p>
        </p:txBody>
      </p:sp>
      <p:sp>
        <p:nvSpPr>
          <p:cNvPr id="9" name="Shape 6"/>
          <p:cNvSpPr/>
          <p:nvPr/>
        </p:nvSpPr>
        <p:spPr>
          <a:xfrm>
            <a:off x="548640" y="3291840"/>
            <a:ext cx="457200" cy="457200"/>
          </a:xfrm>
          <a:prstGeom prst="ellipse">
            <a:avLst/>
          </a:prstGeom>
          <a:solidFill>
            <a:srgbClr val="2D6A4F"/>
          </a:solidFill>
          <a:ln/>
        </p:spPr>
      </p:sp>
      <p:pic>
        <p:nvPicPr>
          <p:cNvPr id="10" name="Image 1" descr="/home/claude/icons/check_white.png"/>
          <p:cNvPicPr>
            <a:picLocks noChangeAspect="1"/>
          </p:cNvPicPr>
          <p:nvPr/>
        </p:nvPicPr>
        <p:blipFill>
          <a:blip r:embed="rId3"/>
          <a:stretch>
            <a:fillRect/>
          </a:stretch>
        </p:blipFill>
        <p:spPr>
          <a:xfrm>
            <a:off x="662940" y="3406140"/>
            <a:ext cx="228600" cy="228600"/>
          </a:xfrm>
          <a:prstGeom prst="rect">
            <a:avLst/>
          </a:prstGeom>
        </p:spPr>
      </p:pic>
      <p:sp>
        <p:nvSpPr>
          <p:cNvPr id="11" name="Text 7"/>
          <p:cNvSpPr/>
          <p:nvPr/>
        </p:nvSpPr>
        <p:spPr>
          <a:xfrm>
            <a:off x="1234440" y="3246120"/>
            <a:ext cx="98755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69% of downtime is process-driven — meaning the biggest wins are structural, not disciplinary.</a:t>
            </a:r>
            <a:endParaRPr lang="en-US" sz="1350" dirty="0"/>
          </a:p>
        </p:txBody>
      </p:sp>
      <p:sp>
        <p:nvSpPr>
          <p:cNvPr id="12" name="Shape 8"/>
          <p:cNvSpPr/>
          <p:nvPr/>
        </p:nvSpPr>
        <p:spPr>
          <a:xfrm>
            <a:off x="548640" y="4069080"/>
            <a:ext cx="457200" cy="457200"/>
          </a:xfrm>
          <a:prstGeom prst="ellipse">
            <a:avLst/>
          </a:prstGeom>
          <a:solidFill>
            <a:srgbClr val="2D6A4F"/>
          </a:solidFill>
          <a:ln/>
        </p:spPr>
      </p:sp>
      <p:pic>
        <p:nvPicPr>
          <p:cNvPr id="13" name="Image 2" descr="/home/claude/icons/check_white.png"/>
          <p:cNvPicPr>
            <a:picLocks noChangeAspect="1"/>
          </p:cNvPicPr>
          <p:nvPr/>
        </p:nvPicPr>
        <p:blipFill>
          <a:blip r:embed="rId3"/>
          <a:stretch>
            <a:fillRect/>
          </a:stretch>
        </p:blipFill>
        <p:spPr>
          <a:xfrm>
            <a:off x="662940" y="4183380"/>
            <a:ext cx="228600" cy="228600"/>
          </a:xfrm>
          <a:prstGeom prst="rect">
            <a:avLst/>
          </a:prstGeom>
        </p:spPr>
      </p:pic>
      <p:sp>
        <p:nvSpPr>
          <p:cNvPr id="14" name="Text 9"/>
          <p:cNvSpPr/>
          <p:nvPr/>
        </p:nvSpPr>
        <p:spPr>
          <a:xfrm>
            <a:off x="1234440" y="4023360"/>
            <a:ext cx="98755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Five targeted recommendations offer a realistic path to fewer delays and lower operating cost.</a:t>
            </a:r>
            <a:endParaRPr lang="en-US" sz="1350" dirty="0"/>
          </a:p>
        </p:txBody>
      </p:sp>
      <p:sp>
        <p:nvSpPr>
          <p:cNvPr id="15" name="Shape 10"/>
          <p:cNvSpPr/>
          <p:nvPr/>
        </p:nvSpPr>
        <p:spPr>
          <a:xfrm>
            <a:off x="548640" y="5074920"/>
            <a:ext cx="10881360" cy="1051560"/>
          </a:xfrm>
          <a:prstGeom prst="roundRect">
            <a:avLst>
              <a:gd name="adj" fmla="val 6087"/>
            </a:avLst>
          </a:prstGeom>
          <a:solidFill>
            <a:srgbClr val="1B4332"/>
          </a:solidFill>
          <a:ln w="12700">
            <a:solidFill>
              <a:srgbClr val="95D5B2"/>
            </a:solidFill>
            <a:prstDash val="solid"/>
          </a:ln>
        </p:spPr>
      </p:sp>
      <p:sp>
        <p:nvSpPr>
          <p:cNvPr id="16" name="Text 11"/>
          <p:cNvSpPr/>
          <p:nvPr/>
        </p:nvSpPr>
        <p:spPr>
          <a:xfrm>
            <a:off x="822960" y="5074920"/>
            <a:ext cx="10332720" cy="1051560"/>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Thank you for your time and engagement throughout this project.</a:t>
            </a:r>
            <a:endParaRPr lang="en-US" sz="1600" dirty="0"/>
          </a:p>
        </p:txBody>
      </p:sp>
      <p:sp>
        <p:nvSpPr>
          <p:cNvPr id="17" name="Text 1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BFDCC9"/>
                </a:solidFill>
                <a:latin typeface="Calibri" pitchFamily="34" charset="0"/>
                <a:ea typeface="Calibri" pitchFamily="34" charset="-122"/>
                <a:cs typeface="Calibri" pitchFamily="34" charset="-120"/>
              </a:rPr>
              <a:t>GreenTech Downtime Analysis Project</a:t>
            </a:r>
            <a:endParaRPr lang="en-US" sz="900" dirty="0"/>
          </a:p>
        </p:txBody>
      </p:sp>
      <p:sp>
        <p:nvSpPr>
          <p:cNvPr id="18"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DCC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943600" cy="5943600"/>
          </a:xfrm>
          <a:prstGeom prst="ellipse">
            <a:avLst/>
          </a:prstGeom>
          <a:solidFill>
            <a:srgbClr val="2D6A4F">
              <a:alpha val="45000"/>
            </a:srgbClr>
          </a:solidFill>
          <a:ln/>
        </p:spPr>
      </p:sp>
      <p:sp>
        <p:nvSpPr>
          <p:cNvPr id="3" name="Shape 1"/>
          <p:cNvSpPr/>
          <p:nvPr/>
        </p:nvSpPr>
        <p:spPr>
          <a:xfrm>
            <a:off x="8686800" y="3657600"/>
            <a:ext cx="5486400" cy="5486400"/>
          </a:xfrm>
          <a:prstGeom prst="ellipse">
            <a:avLst/>
          </a:prstGeom>
          <a:solidFill>
            <a:srgbClr val="4C956C">
              <a:alpha val="35000"/>
            </a:srgbClr>
          </a:solidFill>
          <a:ln/>
        </p:spPr>
      </p:sp>
      <p:sp>
        <p:nvSpPr>
          <p:cNvPr id="4" name="Shape 2"/>
          <p:cNvSpPr/>
          <p:nvPr/>
        </p:nvSpPr>
        <p:spPr>
          <a:xfrm>
            <a:off x="5500116" y="1965960"/>
            <a:ext cx="1188720" cy="1188720"/>
          </a:xfrm>
          <a:prstGeom prst="ellipse">
            <a:avLst/>
          </a:prstGeom>
          <a:solidFill>
            <a:srgbClr val="2D6A4F"/>
          </a:solidFill>
          <a:ln/>
        </p:spPr>
      </p:sp>
      <p:pic>
        <p:nvPicPr>
          <p:cNvPr id="5" name="Image 0" descr="/home/claude/icons/question_white.png"/>
          <p:cNvPicPr>
            <a:picLocks noChangeAspect="1"/>
          </p:cNvPicPr>
          <p:nvPr/>
        </p:nvPicPr>
        <p:blipFill>
          <a:blip r:embed="rId3"/>
          <a:stretch>
            <a:fillRect/>
          </a:stretch>
        </p:blipFill>
        <p:spPr>
          <a:xfrm>
            <a:off x="5797296" y="2263140"/>
            <a:ext cx="594360" cy="594360"/>
          </a:xfrm>
          <a:prstGeom prst="rect">
            <a:avLst/>
          </a:prstGeom>
        </p:spPr>
      </p:pic>
      <p:sp>
        <p:nvSpPr>
          <p:cNvPr id="6" name="Text 3"/>
          <p:cNvSpPr/>
          <p:nvPr/>
        </p:nvSpPr>
        <p:spPr>
          <a:xfrm>
            <a:off x="0" y="3383280"/>
            <a:ext cx="12188952" cy="8229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Questions &amp; Discussion</a:t>
            </a:r>
            <a:endParaRPr lang="en-US" sz="3800" dirty="0"/>
          </a:p>
        </p:txBody>
      </p:sp>
      <p:sp>
        <p:nvSpPr>
          <p:cNvPr id="7" name="Text 4"/>
          <p:cNvSpPr/>
          <p:nvPr/>
        </p:nvSpPr>
        <p:spPr>
          <a:xfrm>
            <a:off x="1371600" y="4206240"/>
            <a:ext cx="9445752" cy="548640"/>
          </a:xfrm>
          <a:prstGeom prst="rect">
            <a:avLst/>
          </a:prstGeom>
          <a:noFill/>
          <a:ln/>
        </p:spPr>
        <p:txBody>
          <a:bodyPr wrap="square" lIns="0" tIns="0" rIns="0" bIns="0" rtlCol="0" anchor="ctr"/>
          <a:lstStyle/>
          <a:p>
            <a:pPr marL="0" indent="0" algn="ctr">
              <a:buNone/>
            </a:pPr>
            <a:r>
              <a:rPr lang="en-US" sz="1400" i="1" dirty="0">
                <a:solidFill>
                  <a:srgbClr val="D7E9DD"/>
                </a:solidFill>
                <a:latin typeface="Calibri" pitchFamily="34" charset="0"/>
                <a:ea typeface="Calibri" pitchFamily="34" charset="-122"/>
                <a:cs typeface="Calibri" pitchFamily="34" charset="-120"/>
              </a:rPr>
              <a:t>Thank you — happy to discuss the methodology, findings, or recommendations in more depth.</a:t>
            </a:r>
            <a:endParaRPr lang="en-US" sz="1400" dirty="0"/>
          </a:p>
        </p:txBody>
      </p:sp>
      <p:sp>
        <p:nvSpPr>
          <p:cNvPr id="8" name="Text 5"/>
          <p:cNvSpPr/>
          <p:nvPr/>
        </p:nvSpPr>
        <p:spPr>
          <a:xfrm>
            <a:off x="1371600" y="5989320"/>
            <a:ext cx="9445752" cy="365760"/>
          </a:xfrm>
          <a:prstGeom prst="rect">
            <a:avLst/>
          </a:prstGeom>
          <a:noFill/>
          <a:ln/>
        </p:spPr>
        <p:txBody>
          <a:bodyPr wrap="square" lIns="0" tIns="0" rIns="0" bIns="0" rtlCol="0" anchor="ctr"/>
          <a:lstStyle/>
          <a:p>
            <a:pPr marL="0" indent="0" algn="ctr">
              <a:buNone/>
            </a:pPr>
            <a:r>
              <a:rPr lang="en-US" sz="1200" dirty="0">
                <a:solidFill>
                  <a:srgbClr val="BFDCC9"/>
                </a:solidFill>
                <a:latin typeface="Calibri" pitchFamily="34" charset="0"/>
                <a:ea typeface="Calibri" pitchFamily="34" charset="-122"/>
                <a:cs typeface="Calibri" pitchFamily="34" charset="-120"/>
              </a:rPr>
              <a:t>Sarah Abhulimhen  •  Data Analyst Intern  •  GreenTech Manufacturing</a:t>
            </a:r>
            <a:endParaRPr lang="en-US" sz="12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BFDCC9"/>
                </a:solidFill>
                <a:latin typeface="Calibri" pitchFamily="34" charset="0"/>
                <a:ea typeface="Calibri" pitchFamily="34" charset="-122"/>
                <a:cs typeface="Calibri" pitchFamily="34" charset="-120"/>
              </a:rPr>
              <a:t>GreenTech Downtime Analysis Project</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DCC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Dashboard</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Appendix</a:t>
            </a:r>
            <a:endParaRPr lang="en-US" sz="3000" dirty="0"/>
          </a:p>
        </p:txBody>
      </p:sp>
      <p:sp>
        <p:nvSpPr>
          <p:cNvPr id="4" name="Shape 2"/>
          <p:cNvSpPr/>
          <p:nvPr/>
        </p:nvSpPr>
        <p:spPr>
          <a:xfrm>
            <a:off x="548640" y="1691640"/>
            <a:ext cx="10881360" cy="4507992"/>
          </a:xfrm>
          <a:prstGeom prst="roundRect">
            <a:avLst>
              <a:gd name="adj" fmla="val 4516"/>
            </a:avLst>
          </a:prstGeom>
          <a:blipFill>
            <a:blip r:embed="rId3"/>
            <a:stretch>
              <a:fillRect/>
            </a:stretch>
          </a:blipFill>
          <a:ln w="12700">
            <a:solidFill>
              <a:srgbClr val="C9DED2"/>
            </a:solidFill>
            <a:prstDash val="solid"/>
          </a:ln>
        </p:spPr>
      </p:sp>
      <p:sp>
        <p:nvSpPr>
          <p:cNvPr id="18"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20</a:t>
            </a:r>
            <a:endParaRPr lang="en-US" sz="900" dirty="0"/>
          </a:p>
        </p:txBody>
      </p:sp>
    </p:spTree>
    <p:extLst>
      <p:ext uri="{BB962C8B-B14F-4D97-AF65-F5344CB8AC3E}">
        <p14:creationId xmlns:p14="http://schemas.microsoft.com/office/powerpoint/2010/main" val="55249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Dashboard</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Appendix</a:t>
            </a:r>
            <a:endParaRPr lang="en-US" sz="3000" dirty="0"/>
          </a:p>
        </p:txBody>
      </p:sp>
      <p:sp>
        <p:nvSpPr>
          <p:cNvPr id="4" name="Shape 2"/>
          <p:cNvSpPr/>
          <p:nvPr/>
        </p:nvSpPr>
        <p:spPr>
          <a:xfrm>
            <a:off x="548640" y="1691640"/>
            <a:ext cx="10881360" cy="4507992"/>
          </a:xfrm>
          <a:prstGeom prst="roundRect">
            <a:avLst>
              <a:gd name="adj" fmla="val 4516"/>
            </a:avLst>
          </a:prstGeom>
          <a:blipFill>
            <a:blip r:embed="rId3"/>
            <a:stretch>
              <a:fillRect/>
            </a:stretch>
          </a:blipFill>
          <a:ln w="12700">
            <a:solidFill>
              <a:srgbClr val="C9DED2"/>
            </a:solidFill>
            <a:prstDash val="solid"/>
          </a:ln>
        </p:spPr>
      </p:sp>
      <p:sp>
        <p:nvSpPr>
          <p:cNvPr id="18"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21</a:t>
            </a:r>
            <a:endParaRPr lang="en-US" sz="900" dirty="0"/>
          </a:p>
        </p:txBody>
      </p:sp>
    </p:spTree>
    <p:extLst>
      <p:ext uri="{BB962C8B-B14F-4D97-AF65-F5344CB8AC3E}">
        <p14:creationId xmlns:p14="http://schemas.microsoft.com/office/powerpoint/2010/main" val="1398660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320040"/>
          </a:xfrm>
          <a:prstGeom prst="rect">
            <a:avLst/>
          </a:prstGeom>
          <a:noFill/>
          <a:ln/>
        </p:spPr>
        <p:txBody>
          <a:bodyPr wrap="square" lIns="0" tIns="0" rIns="0" bIns="0" rtlCol="0" anchor="ctr"/>
          <a:lstStyle/>
          <a:p>
            <a:pPr marL="0" indent="0">
              <a:buNone/>
            </a:pPr>
            <a:r>
              <a:rPr lang="en-US" sz="1300" b="1" kern="0" spc="200" dirty="0">
                <a:solidFill>
                  <a:srgbClr val="2D6A4F"/>
                </a:solidFill>
                <a:latin typeface="Calibri" pitchFamily="34" charset="0"/>
                <a:ea typeface="Calibri" pitchFamily="34" charset="-122"/>
                <a:cs typeface="Calibri" pitchFamily="34" charset="-120"/>
              </a:rPr>
              <a:t>Dashboard</a:t>
            </a:r>
            <a:endParaRPr lang="en-US" sz="1300" dirty="0"/>
          </a:p>
        </p:txBody>
      </p:sp>
      <p:sp>
        <p:nvSpPr>
          <p:cNvPr id="3" name="Text 1"/>
          <p:cNvSpPr/>
          <p:nvPr/>
        </p:nvSpPr>
        <p:spPr>
          <a:xfrm>
            <a:off x="548640" y="658368"/>
            <a:ext cx="10607040" cy="685800"/>
          </a:xfrm>
          <a:prstGeom prst="rect">
            <a:avLst/>
          </a:prstGeom>
          <a:noFill/>
          <a:ln/>
        </p:spPr>
        <p:txBody>
          <a:bodyPr wrap="square" lIns="0" tIns="0" rIns="0" bIns="0"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Appendix</a:t>
            </a:r>
            <a:endParaRPr lang="en-US" sz="3000" dirty="0"/>
          </a:p>
        </p:txBody>
      </p:sp>
      <p:sp>
        <p:nvSpPr>
          <p:cNvPr id="4" name="Shape 2"/>
          <p:cNvSpPr/>
          <p:nvPr/>
        </p:nvSpPr>
        <p:spPr>
          <a:xfrm>
            <a:off x="548640" y="1691640"/>
            <a:ext cx="10881360" cy="4507992"/>
          </a:xfrm>
          <a:prstGeom prst="roundRect">
            <a:avLst>
              <a:gd name="adj" fmla="val 4516"/>
            </a:avLst>
          </a:prstGeom>
          <a:blipFill>
            <a:blip r:embed="rId3"/>
            <a:stretch>
              <a:fillRect/>
            </a:stretch>
          </a:blipFill>
          <a:ln w="12700">
            <a:solidFill>
              <a:srgbClr val="C9DED2"/>
            </a:solidFill>
            <a:prstDash val="solid"/>
          </a:ln>
        </p:spPr>
      </p:sp>
      <p:sp>
        <p:nvSpPr>
          <p:cNvPr id="18"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B7B6A"/>
                </a:solidFill>
                <a:latin typeface="Calibri" pitchFamily="34" charset="0"/>
                <a:ea typeface="Calibri" pitchFamily="34" charset="-122"/>
                <a:cs typeface="Calibri" pitchFamily="34" charset="-120"/>
              </a:rPr>
              <a:t>GreenTech Downtime Analysis Project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B6A"/>
                </a:solidFill>
                <a:latin typeface="Calibri" pitchFamily="34" charset="0"/>
                <a:ea typeface="Calibri" pitchFamily="34" charset="-122"/>
                <a:cs typeface="Calibri" pitchFamily="34" charset="-120"/>
              </a:rPr>
              <a:t>22</a:t>
            </a:r>
            <a:endParaRPr lang="en-US" sz="900" dirty="0"/>
          </a:p>
        </p:txBody>
      </p:sp>
    </p:spTree>
    <p:extLst>
      <p:ext uri="{BB962C8B-B14F-4D97-AF65-F5344CB8AC3E}">
        <p14:creationId xmlns:p14="http://schemas.microsoft.com/office/powerpoint/2010/main" val="3313815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3652</Words>
  <Application>Microsoft Office PowerPoint</Application>
  <PresentationFormat>Custom</PresentationFormat>
  <Paragraphs>302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Sarah Ebabhiose Abhulimhen</cp:lastModifiedBy>
  <cp:revision>3</cp:revision>
  <dcterms:created xsi:type="dcterms:W3CDTF">2026-07-19T20:10:48Z</dcterms:created>
  <dcterms:modified xsi:type="dcterms:W3CDTF">2026-07-19T23:53:24Z</dcterms:modified>
</cp:coreProperties>
</file>